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56" r:id="rId3"/>
    <p:sldId id="259" r:id="rId4"/>
    <p:sldId id="258" r:id="rId5"/>
    <p:sldId id="260" r:id="rId6"/>
    <p:sldId id="261" r:id="rId7"/>
    <p:sldId id="262" r:id="rId8"/>
    <p:sldId id="263" r:id="rId9"/>
    <p:sldId id="288" r:id="rId10"/>
    <p:sldId id="281" r:id="rId11"/>
    <p:sldId id="284" r:id="rId12"/>
    <p:sldId id="287" r:id="rId13"/>
    <p:sldId id="289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65E2A-E1B3-48DD-A49E-A1D3FA6E37B3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23C72-C580-4DAC-B5EE-0CD31EB73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4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A3BDCA-6087-4642-B128-7FBC3DE5205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702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A3BDCA-6087-4642-B128-7FBC3DE5205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8375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A3BDCA-6087-4642-B128-7FBC3DE5205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59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A3BDCA-6087-4642-B128-7FBC3DE5205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68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6CEF-9CDE-45E6-8098-7487E7171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F2739-479D-41E6-9D98-605E28401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2304F-D2D0-4CD6-9C28-25A5EF58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2DB8-0CCE-4BC9-8250-7AEA3E60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B26D-426B-4CA1-BD6F-37F0CDF8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9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A10F-4D5A-439B-A8CC-90FA1F55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D802-5B10-4630-9D00-FBC37614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26DB-F43B-457E-AFEC-F6E8697A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685E9-8E19-44C3-91B3-3FF1A77E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DCB68-2E0C-4F4A-930E-3D3C9543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3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0A09-8B78-4B89-9E52-B1E44970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16909-8880-494D-841E-22909EF58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03F2-7AB3-494E-8AF7-2EE27874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35B0A-026E-4763-8332-55F235A0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5F947-ADE7-4BFB-902E-481F3D46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7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D49D-2D0C-499E-8B2B-0900C8F8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8F0-AFA8-42C5-87C9-569A4ECED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156DB-AE59-4585-B525-C3AF2BA2F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D1DB6-5EE3-4EAB-A43A-9092ADFA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7D9CF-64F6-4501-BE82-932EA8D2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D873C-2DA6-4C20-A24A-770E586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5FA-8A69-4269-B244-6F02F9E5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49A31-2A9C-4AC9-BACB-44DCD0732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63319-F3FC-4C23-8E4D-5B65A6A4D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EB222E-7F84-425B-8C73-33E16CC3C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98908-3D19-4657-A2A8-07BFD65FD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9DA45-A496-42DE-90FF-A85A1F9E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70630-64A5-4A6B-A396-EA17B244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4531B3-3F7A-49D8-A921-00E80ED4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4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5534-0978-4684-9864-ED447AAA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09CF4-8433-463F-B3CC-3B618851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02133-7B3A-4593-AEAF-FA7506A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7D31A-0BA9-48C5-A04B-A0B5FFCA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AFB82-D794-4556-9A78-C061C397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EC05B-0388-4D58-97E0-68A4A73D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7872-F178-448C-ADDC-794F6D60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0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A87-9337-4C7B-B3D1-44CC054E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E331-0C3D-4743-869B-6FDC8BCF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F86C5-5E8D-4C9B-BA70-A5E0D4A73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363F8-7914-4A60-81BA-0EC28AE0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B6430-5989-455B-85CA-E25E5C40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4D50A-1804-486F-9782-22B4D341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9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A9A3-DF5B-4158-81B0-3562152F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AC7CB-C54A-46EE-9012-878757237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527FD-A519-4BD8-A46C-824F4B73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16244-EEF1-4B40-A0E2-F23E9067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F74F5-82AD-480C-96BD-49FCBE16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9A083-163D-4DA5-9740-1C21F18C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9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7F67-704D-4B1E-9073-3147891F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4CC03-C54B-4E0F-A445-863712964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218B-BDA5-4854-9911-F1B25CE8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EA893-6A3D-444D-9797-6E6AE45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BC929-F2C3-4F7C-8148-CF0199B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3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49E8A-04BB-442B-9349-950044219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7291E-1EA7-459E-A714-00D5520C8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D3F4-3869-4465-8247-97578835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2F9DD-E476-4DAE-AE9A-1F13E97D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60308-5435-4390-A0D4-EC3110D4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87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0" y="1244600"/>
            <a:ext cx="10972800" cy="4986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21653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5927D-32DD-4B11-B137-ED3A3A74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ECC8C-FD58-44F6-A6F4-6792582A2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F0245-E560-4780-B452-A624FD0BC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BD429-C195-4A5B-A454-2631D5C5FE8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5D1D-8E8D-407B-8756-A034B39F5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EE41-B3BA-40E7-ACFC-5BD948ADC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F5804-0CD2-4BFF-B55A-C36ACB64E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8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B769EE5-55E1-4E95-A13D-3C6939768E7A}"/>
              </a:ext>
            </a:extLst>
          </p:cNvPr>
          <p:cNvSpPr txBox="1"/>
          <p:nvPr/>
        </p:nvSpPr>
        <p:spPr>
          <a:xfrm>
            <a:off x="1" y="6185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THIẾT BỊ KIỂM TRA CHI TIẾT KỸ THUẬT SẢN PHẨM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A9AF6-49F0-405A-99C2-81A92F6AC643}"/>
              </a:ext>
            </a:extLst>
          </p:cNvPr>
          <p:cNvSpPr txBox="1"/>
          <p:nvPr/>
        </p:nvSpPr>
        <p:spPr>
          <a:xfrm>
            <a:off x="2256639" y="1693769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1. THỐNG KÊ KHẢ NĂNG THỰC HIỆN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B4F63-D472-435B-8166-BC6AB5350EA1}"/>
              </a:ext>
            </a:extLst>
          </p:cNvPr>
          <p:cNvSpPr txBox="1"/>
          <p:nvPr/>
        </p:nvSpPr>
        <p:spPr>
          <a:xfrm>
            <a:off x="2256639" y="2032323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2. PH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ƠNG PHÁP CHỤP ẢNH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9EECF8-EC0D-4E79-B23C-04086488E9EC}"/>
              </a:ext>
            </a:extLst>
          </p:cNvPr>
          <p:cNvSpPr txBox="1"/>
          <p:nvPr/>
        </p:nvSpPr>
        <p:spPr>
          <a:xfrm>
            <a:off x="2256639" y="2370877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3. MỘT SỐ HÌNH ẢNH LỖI CHỤP Đ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F7A632-9A7D-4CEB-A97E-C28767A203ED}"/>
              </a:ext>
            </a:extLst>
          </p:cNvPr>
          <p:cNvSpPr txBox="1"/>
          <p:nvPr/>
        </p:nvSpPr>
        <p:spPr>
          <a:xfrm>
            <a:off x="2256639" y="2709431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4. PH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ƠNG PHÁP XỬ LÝ, PHÁN ĐỊNH CỦA CH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6609BB-106C-4126-8C73-B0DB08EBD24A}"/>
              </a:ext>
            </a:extLst>
          </p:cNvPr>
          <p:cNvSpPr txBox="1"/>
          <p:nvPr/>
        </p:nvSpPr>
        <p:spPr>
          <a:xfrm>
            <a:off x="2256639" y="3047985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5. KẾT QUẢ KIỂM TRA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D0591-0EF1-4E50-BF89-91AFD8099590}"/>
              </a:ext>
            </a:extLst>
          </p:cNvPr>
          <p:cNvSpPr txBox="1"/>
          <p:nvPr/>
        </p:nvSpPr>
        <p:spPr>
          <a:xfrm>
            <a:off x="2256639" y="3386539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6. Ý T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ỞNG CƠ KHÍ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972FF6-EFAA-45F1-9816-7A2FDBF769C9}"/>
              </a:ext>
            </a:extLst>
          </p:cNvPr>
          <p:cNvSpPr txBox="1"/>
          <p:nvPr/>
        </p:nvSpPr>
        <p:spPr>
          <a:xfrm>
            <a:off x="2256639" y="3723383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7. CẤU THÀNH TỔNG THỂ THIẾT BỊ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5FAF9A-304A-4682-9F6F-1738824306BA}"/>
              </a:ext>
            </a:extLst>
          </p:cNvPr>
          <p:cNvSpPr txBox="1"/>
          <p:nvPr/>
        </p:nvSpPr>
        <p:spPr>
          <a:xfrm>
            <a:off x="2256639" y="4061937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8. CHI TIẾT CÁC CỤM C</a:t>
            </a:r>
            <a:r>
              <a:rPr lang="vi-VN" sz="1600">
                <a:cs typeface="Arial" panose="020B0604020202020204" pitchFamily="34" charset="0"/>
              </a:rPr>
              <a:t>Ơ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CẤU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B89F24-6472-4B6D-97F8-0066D0488855}"/>
              </a:ext>
            </a:extLst>
          </p:cNvPr>
          <p:cNvSpPr txBox="1"/>
          <p:nvPr/>
        </p:nvSpPr>
        <p:spPr>
          <a:xfrm>
            <a:off x="2256639" y="4398781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9. L</a:t>
            </a:r>
            <a:r>
              <a:rPr lang="vi-VN" sz="1600">
                <a:cs typeface="Arial" panose="020B0604020202020204" pitchFamily="34" charset="0"/>
              </a:rPr>
              <a:t>Ư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U TRÌNH XỬ LÝ LINH KIỆN OK / 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2C3650-A5B8-4F66-8E60-D74F6E5917A7}"/>
              </a:ext>
            </a:extLst>
          </p:cNvPr>
          <p:cNvSpPr txBox="1"/>
          <p:nvPr/>
        </p:nvSpPr>
        <p:spPr>
          <a:xfrm>
            <a:off x="2256639" y="4735625"/>
            <a:ext cx="8850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10. TÍNH TOÁN CHI PHÍ</a:t>
            </a:r>
          </a:p>
        </p:txBody>
      </p:sp>
    </p:spTree>
    <p:extLst>
      <p:ext uri="{BB962C8B-B14F-4D97-AF65-F5344CB8AC3E}">
        <p14:creationId xmlns:p14="http://schemas.microsoft.com/office/powerpoint/2010/main" val="57382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54752F1-7002-4AAB-B285-A8EEC50B4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559904"/>
              </p:ext>
            </p:extLst>
          </p:nvPr>
        </p:nvGraphicFramePr>
        <p:xfrm>
          <a:off x="146384" y="649704"/>
          <a:ext cx="11849873" cy="5838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358">
                  <a:extLst>
                    <a:ext uri="{9D8B030D-6E8A-4147-A177-3AD203B41FA5}">
                      <a16:colId xmlns:a16="http://schemas.microsoft.com/office/drawing/2014/main" val="1553634113"/>
                    </a:ext>
                  </a:extLst>
                </a:gridCol>
                <a:gridCol w="4819990">
                  <a:extLst>
                    <a:ext uri="{9D8B030D-6E8A-4147-A177-3AD203B41FA5}">
                      <a16:colId xmlns:a16="http://schemas.microsoft.com/office/drawing/2014/main" val="1834247492"/>
                    </a:ext>
                  </a:extLst>
                </a:gridCol>
                <a:gridCol w="981512">
                  <a:extLst>
                    <a:ext uri="{9D8B030D-6E8A-4147-A177-3AD203B41FA5}">
                      <a16:colId xmlns:a16="http://schemas.microsoft.com/office/drawing/2014/main" val="330611368"/>
                    </a:ext>
                  </a:extLst>
                </a:gridCol>
                <a:gridCol w="5629013">
                  <a:extLst>
                    <a:ext uri="{9D8B030D-6E8A-4147-A177-3AD203B41FA5}">
                      <a16:colId xmlns:a16="http://schemas.microsoft.com/office/drawing/2014/main" val="4173423430"/>
                    </a:ext>
                  </a:extLst>
                </a:gridCol>
              </a:tblGrid>
              <a:tr h="754950"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 trí yêu cầu kiểm 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 năng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 tin thêm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937279"/>
                  </a:ext>
                </a:extLst>
              </a:tr>
              <a:tr h="852459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Cổng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phun</a:t>
                      </a:r>
                      <a:endParaRPr lang="en-US" sz="13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&lt; 0.5mm, </a:t>
                      </a:r>
                      <a:r>
                        <a:rPr lang="en-US" sz="13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Sâu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&lt; 0.2mm.</a:t>
                      </a:r>
                    </a:p>
                    <a:p>
                      <a:r>
                        <a:rPr lang="en-US" sz="13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bavia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3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vỡ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3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thủng</a:t>
                      </a:r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Một phần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 bavia, vỡ, thủng.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thể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 chiều cao, chiều sâu bởi vì camera thông th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ờng sẽ không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ợc. Scan 3D mới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ợc.</a:t>
                      </a: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84031"/>
                  </a:ext>
                </a:extLst>
              </a:tr>
              <a:tr h="852459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Bề mặt tr</a:t>
                      </a:r>
                      <a:r>
                        <a:rPr lang="vi-VN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ợt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cho phép ba via, x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ớc, rộp, thiếu nhựa, biến dạng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792115"/>
                  </a:ext>
                </a:extLst>
              </a:tr>
              <a:tr h="852459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Lỗ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cho phép thiếu nhựa, bavia, biến dạng, sứt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843865"/>
                  </a:ext>
                </a:extLst>
              </a:tr>
              <a:tr h="75495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 trí khác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 khuôn và nguyễn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623591"/>
                  </a:ext>
                </a:extLst>
              </a:tr>
              <a:tr h="886865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 đẩy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&lt;0mm, sâu &lt; 0.2mm.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bavia, dính dầu trên bề mặt vết pin đẩy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Một phần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thể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 chiều cao, chiều sâu bởi vì camera thông th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ờng sẽ không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ợc. Scan 3D mới kiểm tra đ</a:t>
                      </a:r>
                      <a:r>
                        <a:rPr lang="vi-VN" sz="130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ợc.</a:t>
                      </a: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243362"/>
                  </a:ext>
                </a:extLst>
              </a:tr>
              <a:tr h="852459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Vấu lắp ráp, điểm nhựa cuối cùng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cho phép thiếu nhựa, sứt, cong, rạn, bavia, biến dạng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1008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236E62C-3C18-4132-AB88-5EDA4CEE8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088" y="2301104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973D68-B33E-4C55-81BE-1E7195F4E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69" y="5637850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EADF70-E450-41B8-B230-16B0C1333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69" y="3975964"/>
            <a:ext cx="457200" cy="457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AB75FE-A016-4C75-BDF3-CDC6DF40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088" y="1424801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3CFD2A-3324-4AE0-938B-55B7546DB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69" y="4747989"/>
            <a:ext cx="457200" cy="45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B7F67A-4F48-4EF0-AE1C-7CA3DADBA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69" y="3177047"/>
            <a:ext cx="457200" cy="457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769EE5-55E1-4E95-A13D-3C6939768E7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1. THỐNG KÊ KHẢ NĂNG THỰC HIỆN</a:t>
            </a:r>
          </a:p>
        </p:txBody>
      </p:sp>
    </p:spTree>
    <p:extLst>
      <p:ext uri="{BB962C8B-B14F-4D97-AF65-F5344CB8AC3E}">
        <p14:creationId xmlns:p14="http://schemas.microsoft.com/office/powerpoint/2010/main" val="356457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6E6EFA-C368-4D47-B898-3AB08A42CF4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PH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ƠNG PHÁP CHỤP ẢNH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150AA8-A585-4A31-8046-3355DDDBD38B}"/>
              </a:ext>
            </a:extLst>
          </p:cNvPr>
          <p:cNvGrpSpPr/>
          <p:nvPr/>
        </p:nvGrpSpPr>
        <p:grpSpPr>
          <a:xfrm>
            <a:off x="5880687" y="914574"/>
            <a:ext cx="662731" cy="1469338"/>
            <a:chOff x="2298583" y="637563"/>
            <a:chExt cx="662731" cy="1469338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EF13C5E4-2FFF-416E-B5D9-D3951A1E39FD}"/>
                </a:ext>
              </a:extLst>
            </p:cNvPr>
            <p:cNvSpPr/>
            <p:nvPr/>
          </p:nvSpPr>
          <p:spPr>
            <a:xfrm>
              <a:off x="2298583" y="1653679"/>
              <a:ext cx="662731" cy="45322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F57420-2D3B-418F-8983-9B6EA91C7B12}"/>
                </a:ext>
              </a:extLst>
            </p:cNvPr>
            <p:cNvSpPr/>
            <p:nvPr/>
          </p:nvSpPr>
          <p:spPr>
            <a:xfrm>
              <a:off x="2298583" y="637563"/>
              <a:ext cx="662731" cy="11576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Camera</a:t>
              </a:r>
            </a:p>
          </p:txBody>
        </p:sp>
      </p:grpSp>
      <p:sp>
        <p:nvSpPr>
          <p:cNvPr id="6" name="Sun 5">
            <a:extLst>
              <a:ext uri="{FF2B5EF4-FFF2-40B4-BE49-F238E27FC236}">
                <a16:creationId xmlns:a16="http://schemas.microsoft.com/office/drawing/2014/main" id="{E1BE6B76-5628-4F68-9CEB-DE8EA9D104CF}"/>
              </a:ext>
            </a:extLst>
          </p:cNvPr>
          <p:cNvSpPr/>
          <p:nvPr/>
        </p:nvSpPr>
        <p:spPr>
          <a:xfrm>
            <a:off x="5943604" y="4727801"/>
            <a:ext cx="536896" cy="49495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4AE7A-4EF7-4552-B5D1-587BF2E26E7B}"/>
              </a:ext>
            </a:extLst>
          </p:cNvPr>
          <p:cNvSpPr/>
          <p:nvPr/>
        </p:nvSpPr>
        <p:spPr>
          <a:xfrm>
            <a:off x="5141757" y="3287475"/>
            <a:ext cx="2140590" cy="225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Vật mẫu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24CF31-02C1-4701-9AFC-E4868F9E80FB}"/>
              </a:ext>
            </a:extLst>
          </p:cNvPr>
          <p:cNvCxnSpPr/>
          <p:nvPr/>
        </p:nvCxnSpPr>
        <p:spPr>
          <a:xfrm flipV="1">
            <a:off x="5212364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015EE3-C585-4122-A693-A8B5184A1869}"/>
              </a:ext>
            </a:extLst>
          </p:cNvPr>
          <p:cNvCxnSpPr/>
          <p:nvPr/>
        </p:nvCxnSpPr>
        <p:spPr>
          <a:xfrm flipV="1">
            <a:off x="5431876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5FCAFE-DCFF-49C3-92BA-8A470BBDF760}"/>
              </a:ext>
            </a:extLst>
          </p:cNvPr>
          <p:cNvCxnSpPr/>
          <p:nvPr/>
        </p:nvCxnSpPr>
        <p:spPr>
          <a:xfrm flipV="1">
            <a:off x="5649990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2DC6D8-6533-4908-8496-378E54012A41}"/>
              </a:ext>
            </a:extLst>
          </p:cNvPr>
          <p:cNvCxnSpPr/>
          <p:nvPr/>
        </p:nvCxnSpPr>
        <p:spPr>
          <a:xfrm flipV="1">
            <a:off x="5869502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D75F05-9749-4039-8991-D92788EFB5C3}"/>
              </a:ext>
            </a:extLst>
          </p:cNvPr>
          <p:cNvCxnSpPr/>
          <p:nvPr/>
        </p:nvCxnSpPr>
        <p:spPr>
          <a:xfrm flipV="1">
            <a:off x="6086218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0CC2FF-CB26-4B1E-8485-BCAC6514E99C}"/>
              </a:ext>
            </a:extLst>
          </p:cNvPr>
          <p:cNvCxnSpPr/>
          <p:nvPr/>
        </p:nvCxnSpPr>
        <p:spPr>
          <a:xfrm flipV="1">
            <a:off x="6305730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FDDD5C-89A2-48BA-9391-8E1DFCB57487}"/>
              </a:ext>
            </a:extLst>
          </p:cNvPr>
          <p:cNvCxnSpPr/>
          <p:nvPr/>
        </p:nvCxnSpPr>
        <p:spPr>
          <a:xfrm flipV="1">
            <a:off x="6514056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A73B7F-F883-4CDC-9FF2-B97027614BB9}"/>
              </a:ext>
            </a:extLst>
          </p:cNvPr>
          <p:cNvCxnSpPr/>
          <p:nvPr/>
        </p:nvCxnSpPr>
        <p:spPr>
          <a:xfrm flipV="1">
            <a:off x="6733568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864A24-33B2-486E-907B-9F7EA80B6A1C}"/>
              </a:ext>
            </a:extLst>
          </p:cNvPr>
          <p:cNvCxnSpPr/>
          <p:nvPr/>
        </p:nvCxnSpPr>
        <p:spPr>
          <a:xfrm flipV="1">
            <a:off x="6951682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89418C-D0B4-4DFB-8463-60BB1286B903}"/>
              </a:ext>
            </a:extLst>
          </p:cNvPr>
          <p:cNvCxnSpPr/>
          <p:nvPr/>
        </p:nvCxnSpPr>
        <p:spPr>
          <a:xfrm flipV="1">
            <a:off x="7171194" y="3682766"/>
            <a:ext cx="0" cy="78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3FD59D1-071F-47F5-B513-96B68C4C2661}"/>
              </a:ext>
            </a:extLst>
          </p:cNvPr>
          <p:cNvSpPr txBox="1"/>
          <p:nvPr/>
        </p:nvSpPr>
        <p:spPr>
          <a:xfrm>
            <a:off x="7208246" y="3829779"/>
            <a:ext cx="593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ớng chiếu sáng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1E5994-9E80-46CF-A1BF-E3CB54BE4EDC}"/>
              </a:ext>
            </a:extLst>
          </p:cNvPr>
          <p:cNvSpPr txBox="1"/>
          <p:nvPr/>
        </p:nvSpPr>
        <p:spPr>
          <a:xfrm>
            <a:off x="5943604" y="5377374"/>
            <a:ext cx="593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Đèn chiếu sáng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B1492E-0C1B-464F-99C1-912C20F49232}"/>
              </a:ext>
            </a:extLst>
          </p:cNvPr>
          <p:cNvSpPr txBox="1"/>
          <p:nvPr/>
        </p:nvSpPr>
        <p:spPr>
          <a:xfrm>
            <a:off x="7993315" y="592470"/>
            <a:ext cx="19140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Mô tả ph</a:t>
            </a:r>
            <a:r>
              <a:rPr lang="vi-VN" sz="13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ơng pháp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A09BF0-C5AD-4F79-BDA3-FAEA933426BA}"/>
              </a:ext>
            </a:extLst>
          </p:cNvPr>
          <p:cNvSpPr txBox="1"/>
          <p:nvPr/>
        </p:nvSpPr>
        <p:spPr>
          <a:xfrm>
            <a:off x="7993315" y="2237718"/>
            <a:ext cx="19140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Đặc điểm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33D3EA-FD7E-4420-A96F-B89638E2D676}"/>
              </a:ext>
            </a:extLst>
          </p:cNvPr>
          <p:cNvSpPr txBox="1"/>
          <p:nvPr/>
        </p:nvSpPr>
        <p:spPr>
          <a:xfrm>
            <a:off x="8247080" y="864943"/>
            <a:ext cx="1914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Vật mẫu đặt giữa.</a:t>
            </a:r>
          </a:p>
          <a:p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Camera chụp từ trên xuống.</a:t>
            </a:r>
          </a:p>
          <a:p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Đèn chiếu màu trắng chụp từ d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ới lên.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C60D8-B77D-4BB1-8CB1-3C522174AF28}"/>
              </a:ext>
            </a:extLst>
          </p:cNvPr>
          <p:cNvSpPr txBox="1"/>
          <p:nvPr/>
        </p:nvSpPr>
        <p:spPr>
          <a:xfrm>
            <a:off x="8247080" y="2642464"/>
            <a:ext cx="1914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Vật kiểm tra màu trắng trong sẽ sáng lên và tăng độ t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ơng phản với dị vật, lỗi.</a:t>
            </a:r>
          </a:p>
          <a:p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Các lỗi sẽ hiện rõ h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 trên nền vật mẫu.</a:t>
            </a:r>
          </a:p>
        </p:txBody>
      </p:sp>
    </p:spTree>
    <p:extLst>
      <p:ext uri="{BB962C8B-B14F-4D97-AF65-F5344CB8AC3E}">
        <p14:creationId xmlns:p14="http://schemas.microsoft.com/office/powerpoint/2010/main" val="323496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61836B-F2A5-4313-9707-2F2AB2D6E0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9" t="30210" r="7705" b="15505"/>
          <a:stretch/>
        </p:blipFill>
        <p:spPr>
          <a:xfrm>
            <a:off x="679010" y="943337"/>
            <a:ext cx="2813695" cy="2074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F9403-9CB8-4546-A768-82EF9B0E5B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2" t="12591" r="14901" b="36979"/>
          <a:stretch/>
        </p:blipFill>
        <p:spPr>
          <a:xfrm>
            <a:off x="4903097" y="943337"/>
            <a:ext cx="2674893" cy="20749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82AA64-3FC9-4F47-A5AB-41C53C4651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0" t="28596" r="33449" b="18045"/>
          <a:stretch/>
        </p:blipFill>
        <p:spPr>
          <a:xfrm>
            <a:off x="8988382" y="943337"/>
            <a:ext cx="2646485" cy="20749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174A1D-8DF3-4791-B55C-ED1D89211CA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25" r="11218" b="45025"/>
          <a:stretch/>
        </p:blipFill>
        <p:spPr>
          <a:xfrm>
            <a:off x="679009" y="3839680"/>
            <a:ext cx="2813695" cy="2006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DD09EE-09FF-4E71-9C80-034F830A16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76" t="29510" r="15677" b="18678"/>
          <a:stretch/>
        </p:blipFill>
        <p:spPr>
          <a:xfrm>
            <a:off x="4903096" y="3839680"/>
            <a:ext cx="2674893" cy="2006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88E69-60BF-4FFD-B6E5-C0EA1DD3C92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3. MỘT SỐ HÌNH ẢNH LỖI CHỤP Đ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B2E4A-85F2-435B-9893-5C713599A369}"/>
              </a:ext>
            </a:extLst>
          </p:cNvPr>
          <p:cNvSpPr txBox="1"/>
          <p:nvPr/>
        </p:nvSpPr>
        <p:spPr>
          <a:xfrm>
            <a:off x="679009" y="3059668"/>
            <a:ext cx="28136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Dính bẩn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60C8B-C6C9-4789-BC8A-D80B74376D34}"/>
              </a:ext>
            </a:extLst>
          </p:cNvPr>
          <p:cNvSpPr txBox="1"/>
          <p:nvPr/>
        </p:nvSpPr>
        <p:spPr>
          <a:xfrm>
            <a:off x="4903096" y="3059668"/>
            <a:ext cx="2674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13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ớc bề mặt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150EF7-9F9B-4966-9E91-E5B12F70A864}"/>
              </a:ext>
            </a:extLst>
          </p:cNvPr>
          <p:cNvSpPr txBox="1"/>
          <p:nvPr/>
        </p:nvSpPr>
        <p:spPr>
          <a:xfrm>
            <a:off x="8988379" y="3059668"/>
            <a:ext cx="26464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Linh kiện bị rạn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63A006-4D85-4D1E-A0F3-D92639D24E44}"/>
              </a:ext>
            </a:extLst>
          </p:cNvPr>
          <p:cNvSpPr txBox="1"/>
          <p:nvPr/>
        </p:nvSpPr>
        <p:spPr>
          <a:xfrm>
            <a:off x="679007" y="5914663"/>
            <a:ext cx="281369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13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ớc bề mặt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41F7BB-3F9C-4ACF-9BA5-609C6ED8BF89}"/>
              </a:ext>
            </a:extLst>
          </p:cNvPr>
          <p:cNvSpPr txBox="1"/>
          <p:nvPr/>
        </p:nvSpPr>
        <p:spPr>
          <a:xfrm>
            <a:off x="4903096" y="5914663"/>
            <a:ext cx="26748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Bề mặt không phẳng, x</a:t>
            </a:r>
            <a:r>
              <a:rPr lang="vi-VN" sz="13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300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680B01-4087-45EF-AACC-09C8E4E0080F}"/>
              </a:ext>
            </a:extLst>
          </p:cNvPr>
          <p:cNvSpPr/>
          <p:nvPr/>
        </p:nvSpPr>
        <p:spPr>
          <a:xfrm>
            <a:off x="1837189" y="1535783"/>
            <a:ext cx="704675" cy="68789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08A531-432B-4D3F-B05F-C7388395C9E8}"/>
              </a:ext>
            </a:extLst>
          </p:cNvPr>
          <p:cNvSpPr/>
          <p:nvPr/>
        </p:nvSpPr>
        <p:spPr>
          <a:xfrm>
            <a:off x="6096000" y="2110150"/>
            <a:ext cx="704675" cy="68789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5F3B96D-0D00-44B0-B297-FFAFA0298D2B}"/>
              </a:ext>
            </a:extLst>
          </p:cNvPr>
          <p:cNvSpPr/>
          <p:nvPr/>
        </p:nvSpPr>
        <p:spPr>
          <a:xfrm>
            <a:off x="10051409" y="2351097"/>
            <a:ext cx="704675" cy="68789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E0A36E-EED5-4452-93CC-ADE17632662A}"/>
              </a:ext>
            </a:extLst>
          </p:cNvPr>
          <p:cNvSpPr/>
          <p:nvPr/>
        </p:nvSpPr>
        <p:spPr>
          <a:xfrm>
            <a:off x="1733517" y="4790782"/>
            <a:ext cx="704675" cy="68789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155C33A-0CD9-45FA-AB90-F872B3796766}"/>
              </a:ext>
            </a:extLst>
          </p:cNvPr>
          <p:cNvSpPr/>
          <p:nvPr/>
        </p:nvSpPr>
        <p:spPr>
          <a:xfrm>
            <a:off x="5888204" y="4271992"/>
            <a:ext cx="704675" cy="68789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1CC3E1-7B5E-43C2-8389-BCCAA55E2BA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 PH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ƠNG PHÁP XỬ LÝ, PHÁN ĐỊNH CỦA CH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7135F8-704B-49A4-8919-844B0A38313C}"/>
              </a:ext>
            </a:extLst>
          </p:cNvPr>
          <p:cNvGrpSpPr/>
          <p:nvPr/>
        </p:nvGrpSpPr>
        <p:grpSpPr>
          <a:xfrm>
            <a:off x="803006" y="861829"/>
            <a:ext cx="1096430" cy="1194398"/>
            <a:chOff x="3495872" y="897828"/>
            <a:chExt cx="1096430" cy="119439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524C04C-CF6A-41D7-9DFE-DC1A1BE441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3495872" y="897828"/>
              <a:ext cx="791630" cy="61408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CA3FE46-3333-4C77-B160-4F44C2AB4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3648272" y="1050228"/>
              <a:ext cx="791630" cy="61408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5B53319-04E6-4B67-B52C-03BD8A75C6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3800672" y="1202628"/>
              <a:ext cx="791630" cy="61408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3149D6-F49C-44B8-99F7-958D3F07205A}"/>
                </a:ext>
              </a:extLst>
            </p:cNvPr>
            <p:cNvSpPr txBox="1"/>
            <p:nvPr/>
          </p:nvSpPr>
          <p:spPr>
            <a:xfrm>
              <a:off x="3547739" y="1846005"/>
              <a:ext cx="992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Ảnh OK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BFC773-B812-4BDB-92E2-48A765CBC7C0}"/>
              </a:ext>
            </a:extLst>
          </p:cNvPr>
          <p:cNvGrpSpPr/>
          <p:nvPr/>
        </p:nvGrpSpPr>
        <p:grpSpPr>
          <a:xfrm>
            <a:off x="2973628" y="873328"/>
            <a:ext cx="1096430" cy="1200690"/>
            <a:chOff x="6102722" y="897828"/>
            <a:chExt cx="1096430" cy="120069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96EE45-964E-49CF-94FA-95802C3A0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102722" y="897828"/>
              <a:ext cx="791630" cy="61408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88F74C-E48E-40E1-BC50-94E8C702CF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255122" y="1050228"/>
              <a:ext cx="791630" cy="61408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41F53EC-F4D1-4F5A-93C2-16723AB83C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407522" y="1202628"/>
              <a:ext cx="791630" cy="61408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63F4FE-DF4A-43D6-8008-22A82237306C}"/>
                </a:ext>
              </a:extLst>
            </p:cNvPr>
            <p:cNvSpPr txBox="1"/>
            <p:nvPr/>
          </p:nvSpPr>
          <p:spPr>
            <a:xfrm>
              <a:off x="6154589" y="1852297"/>
              <a:ext cx="992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Ảnh NG</a:t>
              </a:r>
            </a:p>
          </p:txBody>
        </p:sp>
      </p:grp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8B38EBA3-3B27-4577-85FC-5436A815D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69" y="2429080"/>
            <a:ext cx="1267437" cy="1267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556843-CA3D-40A7-BEFA-3063D7E04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851" y="4638181"/>
            <a:ext cx="828872" cy="82887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ED8970-9382-48BE-BBDA-D4D1F42349B4}"/>
              </a:ext>
            </a:extLst>
          </p:cNvPr>
          <p:cNvCxnSpPr/>
          <p:nvPr/>
        </p:nvCxnSpPr>
        <p:spPr>
          <a:xfrm>
            <a:off x="6014907" y="746620"/>
            <a:ext cx="0" cy="5746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831BC85F-BE17-4D11-A09D-B971892A9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558" y="873328"/>
            <a:ext cx="828872" cy="828872"/>
          </a:xfrm>
          <a:prstGeom prst="rect">
            <a:avLst/>
          </a:prstGeom>
        </p:spPr>
      </p:pic>
      <p:pic>
        <p:nvPicPr>
          <p:cNvPr id="33" name="Picture 32" descr="Icon&#10;&#10;Description automatically generated">
            <a:extLst>
              <a:ext uri="{FF2B5EF4-FFF2-40B4-BE49-F238E27FC236}">
                <a16:creationId xmlns:a16="http://schemas.microsoft.com/office/drawing/2014/main" id="{EF24418B-1C9A-4265-BED4-5AD8AEDE8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460" y="2429080"/>
            <a:ext cx="1267437" cy="126743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3D7BA5B-DE85-464F-831A-2B6DC7DB1440}"/>
              </a:ext>
            </a:extLst>
          </p:cNvPr>
          <p:cNvGrpSpPr/>
          <p:nvPr/>
        </p:nvGrpSpPr>
        <p:grpSpPr>
          <a:xfrm>
            <a:off x="8619284" y="988297"/>
            <a:ext cx="1096430" cy="1200690"/>
            <a:chOff x="6102722" y="897828"/>
            <a:chExt cx="1096430" cy="120069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05E8AC-E328-4784-B968-D04D1F637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102722" y="897828"/>
              <a:ext cx="791630" cy="61408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45B2BD6-2F62-4B98-AE60-0142757CDB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255122" y="1050228"/>
              <a:ext cx="791630" cy="61408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F9BB1D1-BE20-4171-A505-0A58946A2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32" t="12591" r="14901" b="36979"/>
            <a:stretch/>
          </p:blipFill>
          <p:spPr>
            <a:xfrm>
              <a:off x="6407522" y="1202628"/>
              <a:ext cx="791630" cy="61408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3396BB-06B2-4546-805F-F8A056B1236D}"/>
                </a:ext>
              </a:extLst>
            </p:cNvPr>
            <p:cNvSpPr txBox="1"/>
            <p:nvPr/>
          </p:nvSpPr>
          <p:spPr>
            <a:xfrm>
              <a:off x="6154589" y="1852297"/>
              <a:ext cx="992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Ảnh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F3795E-A668-43C2-A60B-B38EC9958629}"/>
              </a:ext>
            </a:extLst>
          </p:cNvPr>
          <p:cNvGrpSpPr/>
          <p:nvPr/>
        </p:nvGrpSpPr>
        <p:grpSpPr>
          <a:xfrm rot="5400000">
            <a:off x="6704927" y="664537"/>
            <a:ext cx="662731" cy="1469338"/>
            <a:chOff x="2298583" y="637563"/>
            <a:chExt cx="662731" cy="1469338"/>
          </a:xfrm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FBC1F444-2B46-40A9-A24C-016EE9DE46BA}"/>
                </a:ext>
              </a:extLst>
            </p:cNvPr>
            <p:cNvSpPr/>
            <p:nvPr/>
          </p:nvSpPr>
          <p:spPr>
            <a:xfrm>
              <a:off x="2298583" y="1653679"/>
              <a:ext cx="662731" cy="45322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704B98-DE29-4CFA-BF6C-065714A5DB2E}"/>
                </a:ext>
              </a:extLst>
            </p:cNvPr>
            <p:cNvSpPr/>
            <p:nvPr/>
          </p:nvSpPr>
          <p:spPr>
            <a:xfrm>
              <a:off x="2298583" y="637563"/>
              <a:ext cx="662731" cy="11576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Camera</a:t>
              </a: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943E567-026D-434D-BA4C-B9EC6126A75B}"/>
              </a:ext>
            </a:extLst>
          </p:cNvPr>
          <p:cNvSpPr/>
          <p:nvPr/>
        </p:nvSpPr>
        <p:spPr>
          <a:xfrm>
            <a:off x="9717999" y="5251508"/>
            <a:ext cx="719449" cy="6140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C3D5B9-1149-4985-9087-6EE7042538AC}"/>
              </a:ext>
            </a:extLst>
          </p:cNvPr>
          <p:cNvSpPr/>
          <p:nvPr/>
        </p:nvSpPr>
        <p:spPr>
          <a:xfrm>
            <a:off x="10562692" y="5251508"/>
            <a:ext cx="719449" cy="61408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NG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295FAC-8B36-4403-A8D7-0EC9DA28292E}"/>
              </a:ext>
            </a:extLst>
          </p:cNvPr>
          <p:cNvCxnSpPr>
            <a:cxnSpLocks/>
          </p:cNvCxnSpPr>
          <p:nvPr/>
        </p:nvCxnSpPr>
        <p:spPr>
          <a:xfrm>
            <a:off x="1747036" y="1939095"/>
            <a:ext cx="481319" cy="6308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B5EAA41-8EB8-45A9-90A3-FE4B28D97482}"/>
              </a:ext>
            </a:extLst>
          </p:cNvPr>
          <p:cNvCxnSpPr>
            <a:cxnSpLocks/>
          </p:cNvCxnSpPr>
          <p:nvPr/>
        </p:nvCxnSpPr>
        <p:spPr>
          <a:xfrm flipH="1">
            <a:off x="2785372" y="1953991"/>
            <a:ext cx="390318" cy="6010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ED9A74-CC6E-44A6-9A41-4DC5107E8AF1}"/>
              </a:ext>
            </a:extLst>
          </p:cNvPr>
          <p:cNvCxnSpPr>
            <a:cxnSpLocks/>
          </p:cNvCxnSpPr>
          <p:nvPr/>
        </p:nvCxnSpPr>
        <p:spPr>
          <a:xfrm>
            <a:off x="2476149" y="3851249"/>
            <a:ext cx="5138" cy="6705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4A5147-A535-48C8-86D7-775E27DF1C7A}"/>
              </a:ext>
            </a:extLst>
          </p:cNvPr>
          <p:cNvCxnSpPr>
            <a:cxnSpLocks/>
          </p:cNvCxnSpPr>
          <p:nvPr/>
        </p:nvCxnSpPr>
        <p:spPr>
          <a:xfrm>
            <a:off x="7800446" y="1332772"/>
            <a:ext cx="789354" cy="96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E7AB0C8-9A57-405F-B1CB-87DBBB422504}"/>
              </a:ext>
            </a:extLst>
          </p:cNvPr>
          <p:cNvCxnSpPr>
            <a:cxnSpLocks/>
          </p:cNvCxnSpPr>
          <p:nvPr/>
        </p:nvCxnSpPr>
        <p:spPr>
          <a:xfrm>
            <a:off x="9856608" y="1780717"/>
            <a:ext cx="481319" cy="6308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466372-AC36-4D90-8F39-0F3C1B6BFAEC}"/>
              </a:ext>
            </a:extLst>
          </p:cNvPr>
          <p:cNvCxnSpPr>
            <a:cxnSpLocks/>
          </p:cNvCxnSpPr>
          <p:nvPr/>
        </p:nvCxnSpPr>
        <p:spPr>
          <a:xfrm flipH="1">
            <a:off x="10478821" y="1780717"/>
            <a:ext cx="390318" cy="6010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170D50-424F-4333-BA54-643D9066E19C}"/>
              </a:ext>
            </a:extLst>
          </p:cNvPr>
          <p:cNvCxnSpPr>
            <a:cxnSpLocks/>
          </p:cNvCxnSpPr>
          <p:nvPr/>
        </p:nvCxnSpPr>
        <p:spPr>
          <a:xfrm>
            <a:off x="10478821" y="4186501"/>
            <a:ext cx="5138" cy="6705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839F8AB-77E2-4D4E-8DF9-DBEBF91C4A68}"/>
              </a:ext>
            </a:extLst>
          </p:cNvPr>
          <p:cNvSpPr txBox="1"/>
          <p:nvPr/>
        </p:nvSpPr>
        <p:spPr>
          <a:xfrm>
            <a:off x="3113014" y="2716643"/>
            <a:ext cx="1914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2. Tập hợp ảnh OK/NG sẽ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ợc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a đi trích xuất bằng phần mềm chuyên dụng để phân tích các điểm khác nhau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51CE50-21E0-41A2-87E2-0AB709791886}"/>
              </a:ext>
            </a:extLst>
          </p:cNvPr>
          <p:cNvSpPr txBox="1"/>
          <p:nvPr/>
        </p:nvSpPr>
        <p:spPr>
          <a:xfrm>
            <a:off x="6281035" y="1873979"/>
            <a:ext cx="1914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4. Camera chụp ảnh chi tiết cần kiểm tra.</a:t>
            </a:r>
          </a:p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Kết quả thu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ợc các bức ảnh chưa rõ OK/NG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969F95-D832-4537-A8EE-424DA046E652}"/>
              </a:ext>
            </a:extLst>
          </p:cNvPr>
          <p:cNvSpPr txBox="1"/>
          <p:nvPr/>
        </p:nvSpPr>
        <p:spPr>
          <a:xfrm>
            <a:off x="9015099" y="2585353"/>
            <a:ext cx="9570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5. So sánh ảnh chụp với các đặc điểm OK/NG đã thu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ợc ở b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ớc 3 để phán định OK/NG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7B5DFC-2219-45DD-AA49-13129A3A1FB3}"/>
              </a:ext>
            </a:extLst>
          </p:cNvPr>
          <p:cNvSpPr txBox="1"/>
          <p:nvPr/>
        </p:nvSpPr>
        <p:spPr>
          <a:xfrm>
            <a:off x="2833180" y="4762234"/>
            <a:ext cx="1914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3. Kết quả quá trình trên thu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ợc dữ liệu cho b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ớc phán định kết quả về sau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EC1859-44D9-4B2C-AF34-15DE3E8947F7}"/>
              </a:ext>
            </a:extLst>
          </p:cNvPr>
          <p:cNvSpPr txBox="1"/>
          <p:nvPr/>
        </p:nvSpPr>
        <p:spPr>
          <a:xfrm>
            <a:off x="4215518" y="824940"/>
            <a:ext cx="13379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1. Tập hợp ảnh OK/NG đ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ợc chụp tr</a:t>
            </a:r>
            <a:r>
              <a:rPr lang="vi-VN" sz="1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0CD822-4CFD-48EB-B8F8-68D53CA00849}"/>
              </a:ext>
            </a:extLst>
          </p:cNvPr>
          <p:cNvSpPr txBox="1"/>
          <p:nvPr/>
        </p:nvSpPr>
        <p:spPr>
          <a:xfrm>
            <a:off x="267747" y="6381949"/>
            <a:ext cx="528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ỚC TẠO CH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129929-4DF1-44E6-BC27-B15F0D8C1750}"/>
              </a:ext>
            </a:extLst>
          </p:cNvPr>
          <p:cNvSpPr txBox="1"/>
          <p:nvPr/>
        </p:nvSpPr>
        <p:spPr>
          <a:xfrm>
            <a:off x="6821146" y="6381949"/>
            <a:ext cx="528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PHÁN ĐỊNH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0447F2-2904-4BD9-918E-4E93D835977C}"/>
              </a:ext>
            </a:extLst>
          </p:cNvPr>
          <p:cNvSpPr txBox="1"/>
          <p:nvPr/>
        </p:nvSpPr>
        <p:spPr>
          <a:xfrm>
            <a:off x="11107558" y="410891"/>
            <a:ext cx="828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Dữ liệu nhận dạng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47C8C4-E360-47F0-A1EC-8B584F890ED6}"/>
              </a:ext>
            </a:extLst>
          </p:cNvPr>
          <p:cNvSpPr txBox="1"/>
          <p:nvPr/>
        </p:nvSpPr>
        <p:spPr>
          <a:xfrm>
            <a:off x="8880606" y="5364848"/>
            <a:ext cx="106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6. Kết quả phán định</a:t>
            </a:r>
          </a:p>
        </p:txBody>
      </p:sp>
    </p:spTree>
    <p:extLst>
      <p:ext uri="{BB962C8B-B14F-4D97-AF65-F5344CB8AC3E}">
        <p14:creationId xmlns:p14="http://schemas.microsoft.com/office/powerpoint/2010/main" val="136221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1CC3E1-7B5E-43C2-8389-BCCAA55E2BA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5. KẾT QUẢ KIỂM TRA DEMO</a:t>
            </a:r>
          </a:p>
        </p:txBody>
      </p:sp>
      <p:pic>
        <p:nvPicPr>
          <p:cNvPr id="3" name="Picture 2" descr="A picture containing wall, indoor, bathroom&#10;&#10;Description automatically generated">
            <a:extLst>
              <a:ext uri="{FF2B5EF4-FFF2-40B4-BE49-F238E27FC236}">
                <a16:creationId xmlns:a16="http://schemas.microsoft.com/office/drawing/2014/main" id="{10E323DA-5A20-4BB3-83F3-93C06B4237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0" r="24368" b="30000"/>
          <a:stretch/>
        </p:blipFill>
        <p:spPr>
          <a:xfrm>
            <a:off x="202352" y="404487"/>
            <a:ext cx="3340947" cy="2805946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E3AA10B-B9B6-43FC-8555-02E52074BF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7" t="788" r="23369" b="26951"/>
          <a:stretch/>
        </p:blipFill>
        <p:spPr>
          <a:xfrm>
            <a:off x="202353" y="3788743"/>
            <a:ext cx="3340947" cy="2699925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5BBC2CA-F98F-41C7-BE0A-5F0E511E6C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7" t="20111" r="25165" b="13781"/>
          <a:stretch/>
        </p:blipFill>
        <p:spPr>
          <a:xfrm>
            <a:off x="6157546" y="3788743"/>
            <a:ext cx="3283275" cy="2716929"/>
          </a:xfrm>
          <a:prstGeom prst="rect">
            <a:avLst/>
          </a:prstGeom>
        </p:spPr>
      </p:pic>
      <p:pic>
        <p:nvPicPr>
          <p:cNvPr id="10" name="Picture 9" descr="A picture containing timeline&#10;&#10;Description automatically generated">
            <a:extLst>
              <a:ext uri="{FF2B5EF4-FFF2-40B4-BE49-F238E27FC236}">
                <a16:creationId xmlns:a16="http://schemas.microsoft.com/office/drawing/2014/main" id="{73D68CF0-1837-4C0A-BA45-15EA21E901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5" t="29210" r="31227" b="5847"/>
          <a:stretch/>
        </p:blipFill>
        <p:spPr>
          <a:xfrm>
            <a:off x="6157546" y="404487"/>
            <a:ext cx="3283275" cy="2770791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BECF70B-BE43-48F1-847A-F363F2E752ED}"/>
              </a:ext>
            </a:extLst>
          </p:cNvPr>
          <p:cNvSpPr/>
          <p:nvPr/>
        </p:nvSpPr>
        <p:spPr>
          <a:xfrm>
            <a:off x="3815862" y="1081454"/>
            <a:ext cx="1257300" cy="1494692"/>
          </a:xfrm>
          <a:prstGeom prst="wedgeRoundRectCallout">
            <a:avLst>
              <a:gd name="adj1" fmla="val -145604"/>
              <a:gd name="adj2" fmla="val 41734"/>
              <a:gd name="adj3" fmla="val 1666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 hiện vết rạn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1F2D3BE-A122-47BE-A98D-5DE5F065E12D}"/>
              </a:ext>
            </a:extLst>
          </p:cNvPr>
          <p:cNvSpPr/>
          <p:nvPr/>
        </p:nvSpPr>
        <p:spPr>
          <a:xfrm>
            <a:off x="3815862" y="3993832"/>
            <a:ext cx="1257300" cy="1494692"/>
          </a:xfrm>
          <a:prstGeom prst="wedgeRoundRectCallout">
            <a:avLst>
              <a:gd name="adj1" fmla="val -178965"/>
              <a:gd name="adj2" fmla="val 58572"/>
              <a:gd name="adj3" fmla="val 1666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 hiện vết x</a:t>
            </a:r>
            <a:r>
              <a:rPr lang="vi-V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41BA79F8-4225-4280-89E4-A6335ABFA6F6}"/>
              </a:ext>
            </a:extLst>
          </p:cNvPr>
          <p:cNvSpPr/>
          <p:nvPr/>
        </p:nvSpPr>
        <p:spPr>
          <a:xfrm>
            <a:off x="10226449" y="1081454"/>
            <a:ext cx="1257300" cy="1494692"/>
          </a:xfrm>
          <a:prstGeom prst="wedgeRoundRectCallout">
            <a:avLst>
              <a:gd name="adj1" fmla="val -235679"/>
              <a:gd name="adj2" fmla="val 6936"/>
              <a:gd name="adj3" fmla="val 1666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Phát hiện vết x</a:t>
            </a:r>
            <a:r>
              <a:rPr lang="vi-VN">
                <a:solidFill>
                  <a:schemeClr val="tx1"/>
                </a:solidFill>
              </a:rPr>
              <a:t>ư</a:t>
            </a:r>
            <a:r>
              <a:rPr lang="en-US">
                <a:solidFill>
                  <a:schemeClr val="tx1"/>
                </a:solidFill>
              </a:rPr>
              <a:t>ớc, bề mặt không phẳng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7BB1795C-F2BB-404E-80AD-4FDAD26DBE62}"/>
              </a:ext>
            </a:extLst>
          </p:cNvPr>
          <p:cNvSpPr/>
          <p:nvPr/>
        </p:nvSpPr>
        <p:spPr>
          <a:xfrm>
            <a:off x="10226449" y="4391359"/>
            <a:ext cx="1257300" cy="1494692"/>
          </a:xfrm>
          <a:prstGeom prst="wedgeRoundRectCallout">
            <a:avLst>
              <a:gd name="adj1" fmla="val -212326"/>
              <a:gd name="adj2" fmla="val 14233"/>
              <a:gd name="adj3" fmla="val 1666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Phát hiện vết bẩn tại vị trí pin đẩy</a:t>
            </a:r>
          </a:p>
        </p:txBody>
      </p:sp>
    </p:spTree>
    <p:extLst>
      <p:ext uri="{BB962C8B-B14F-4D97-AF65-F5344CB8AC3E}">
        <p14:creationId xmlns:p14="http://schemas.microsoft.com/office/powerpoint/2010/main" val="31050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61D8C8-F0D7-461E-8198-70B2662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18520" y="6619875"/>
            <a:ext cx="2133600" cy="26550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D8002D-B5B0-4BAC-B1F6-782DDCCE6D9C}" type="slidenum">
              <a:rPr kumimoji="1" lang="ja-JP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anose="020B0600070205080204" pitchFamily="34" charset="-128"/>
                <a:cs typeface="Arial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41AB9-20CA-4C02-91CB-E8EB8D88FD2D}"/>
              </a:ext>
            </a:extLst>
          </p:cNvPr>
          <p:cNvSpPr/>
          <p:nvPr/>
        </p:nvSpPr>
        <p:spPr>
          <a:xfrm>
            <a:off x="469596" y="916290"/>
            <a:ext cx="1712201" cy="4060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Trước</a:t>
            </a: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cải</a:t>
            </a: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tiến</a:t>
            </a:r>
            <a:endParaRPr kumimoji="1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5A0490-2448-4E22-9FB2-BC7DF29EC443}"/>
              </a:ext>
            </a:extLst>
          </p:cNvPr>
          <p:cNvSpPr/>
          <p:nvPr/>
        </p:nvSpPr>
        <p:spPr>
          <a:xfrm>
            <a:off x="5184854" y="1611363"/>
            <a:ext cx="1319205" cy="13829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Máng</a:t>
            </a:r>
            <a:r>
              <a:rPr kumimoji="1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</a:t>
            </a:r>
            <a:r>
              <a:rPr kumimoji="1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ư</a:t>
            </a:r>
            <a:r>
              <a:rPr kumimoji="1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ợt</a:t>
            </a:r>
            <a:endParaRPr kumimoji="1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C393F2F-9DD3-4CA7-9C98-705D0A2839CA}"/>
              </a:ext>
            </a:extLst>
          </p:cNvPr>
          <p:cNvSpPr/>
          <p:nvPr/>
        </p:nvSpPr>
        <p:spPr>
          <a:xfrm rot="5400000">
            <a:off x="4855652" y="2190369"/>
            <a:ext cx="1059332" cy="17853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: Rounded Corners 257">
            <a:extLst>
              <a:ext uri="{FF2B5EF4-FFF2-40B4-BE49-F238E27FC236}">
                <a16:creationId xmlns:a16="http://schemas.microsoft.com/office/drawing/2014/main" id="{F58FE3B6-FB84-40DD-9E88-94C5E28521DD}"/>
              </a:ext>
            </a:extLst>
          </p:cNvPr>
          <p:cNvSpPr/>
          <p:nvPr/>
        </p:nvSpPr>
        <p:spPr>
          <a:xfrm>
            <a:off x="5364088" y="1132396"/>
            <a:ext cx="154034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1</a:t>
            </a:r>
          </a:p>
        </p:txBody>
      </p:sp>
      <p:sp>
        <p:nvSpPr>
          <p:cNvPr id="10" name="Rectangle: Rounded Corners 257">
            <a:extLst>
              <a:ext uri="{FF2B5EF4-FFF2-40B4-BE49-F238E27FC236}">
                <a16:creationId xmlns:a16="http://schemas.microsoft.com/office/drawing/2014/main" id="{816E2025-01FD-4D14-ADA4-D474D91B4C88}"/>
              </a:ext>
            </a:extLst>
          </p:cNvPr>
          <p:cNvSpPr/>
          <p:nvPr/>
        </p:nvSpPr>
        <p:spPr>
          <a:xfrm>
            <a:off x="5622492" y="1132396"/>
            <a:ext cx="18051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2</a:t>
            </a:r>
          </a:p>
        </p:txBody>
      </p:sp>
      <p:sp>
        <p:nvSpPr>
          <p:cNvPr id="11" name="Rectangle: Rounded Corners 257">
            <a:extLst>
              <a:ext uri="{FF2B5EF4-FFF2-40B4-BE49-F238E27FC236}">
                <a16:creationId xmlns:a16="http://schemas.microsoft.com/office/drawing/2014/main" id="{EDC254A2-1DB3-415A-9791-1B715D4A57B4}"/>
              </a:ext>
            </a:extLst>
          </p:cNvPr>
          <p:cNvSpPr/>
          <p:nvPr/>
        </p:nvSpPr>
        <p:spPr>
          <a:xfrm>
            <a:off x="5907380" y="1140864"/>
            <a:ext cx="17678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3</a:t>
            </a:r>
          </a:p>
        </p:txBody>
      </p:sp>
      <p:sp>
        <p:nvSpPr>
          <p:cNvPr id="12" name="Rectangle: Rounded Corners 257">
            <a:extLst>
              <a:ext uri="{FF2B5EF4-FFF2-40B4-BE49-F238E27FC236}">
                <a16:creationId xmlns:a16="http://schemas.microsoft.com/office/drawing/2014/main" id="{081F02B8-F62A-481F-8599-29818C790A6F}"/>
              </a:ext>
            </a:extLst>
          </p:cNvPr>
          <p:cNvSpPr/>
          <p:nvPr/>
        </p:nvSpPr>
        <p:spPr>
          <a:xfrm>
            <a:off x="6228184" y="1132396"/>
            <a:ext cx="171505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4</a:t>
            </a:r>
          </a:p>
        </p:txBody>
      </p:sp>
      <p:sp>
        <p:nvSpPr>
          <p:cNvPr id="13" name="Arrow: Right 277">
            <a:extLst>
              <a:ext uri="{FF2B5EF4-FFF2-40B4-BE49-F238E27FC236}">
                <a16:creationId xmlns:a16="http://schemas.microsoft.com/office/drawing/2014/main" id="{50CDDA83-C795-47A0-BD7C-09C38F110937}"/>
              </a:ext>
            </a:extLst>
          </p:cNvPr>
          <p:cNvSpPr/>
          <p:nvPr/>
        </p:nvSpPr>
        <p:spPr>
          <a:xfrm rot="19369261">
            <a:off x="4478912" y="1194921"/>
            <a:ext cx="554451" cy="24117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136F76E8-23A3-40EB-8AAC-341AF94CE57F}"/>
              </a:ext>
            </a:extLst>
          </p:cNvPr>
          <p:cNvSpPr/>
          <p:nvPr/>
        </p:nvSpPr>
        <p:spPr>
          <a:xfrm rot="10800000">
            <a:off x="5518122" y="3106036"/>
            <a:ext cx="641892" cy="519781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80F790-3385-43C9-9B59-E06284B507E3}"/>
              </a:ext>
            </a:extLst>
          </p:cNvPr>
          <p:cNvSpPr/>
          <p:nvPr/>
        </p:nvSpPr>
        <p:spPr>
          <a:xfrm>
            <a:off x="6617751" y="3003487"/>
            <a:ext cx="1143862" cy="622329"/>
          </a:xfrm>
          <a:prstGeom prst="rect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prstClr val="black"/>
                </a:solidFill>
                <a:latin typeface="Calibri"/>
              </a:rPr>
              <a:t>Khay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OK</a:t>
            </a:r>
            <a:r>
              <a:rPr kumimoji="1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1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277">
            <a:extLst>
              <a:ext uri="{FF2B5EF4-FFF2-40B4-BE49-F238E27FC236}">
                <a16:creationId xmlns:a16="http://schemas.microsoft.com/office/drawing/2014/main" id="{FFA2F3A7-D78F-4E00-AE9C-0112E9869D77}"/>
              </a:ext>
            </a:extLst>
          </p:cNvPr>
          <p:cNvSpPr/>
          <p:nvPr/>
        </p:nvSpPr>
        <p:spPr>
          <a:xfrm>
            <a:off x="6276733" y="3273512"/>
            <a:ext cx="251965" cy="184828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3A4620-7922-429B-A944-33733E2A8266}"/>
              </a:ext>
            </a:extLst>
          </p:cNvPr>
          <p:cNvSpPr/>
          <p:nvPr/>
        </p:nvSpPr>
        <p:spPr>
          <a:xfrm>
            <a:off x="4067788" y="3003488"/>
            <a:ext cx="1035064" cy="606379"/>
          </a:xfrm>
          <a:prstGeom prst="rect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prstClr val="black"/>
                </a:solidFill>
                <a:latin typeface="Calibri"/>
              </a:rPr>
              <a:t>Khay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NG</a:t>
            </a:r>
            <a:r>
              <a:rPr kumimoji="1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1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F0787-C141-4A67-B830-2F902CAC9100}"/>
              </a:ext>
            </a:extLst>
          </p:cNvPr>
          <p:cNvSpPr/>
          <p:nvPr/>
        </p:nvSpPr>
        <p:spPr>
          <a:xfrm>
            <a:off x="443980" y="3805633"/>
            <a:ext cx="1712201" cy="40609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Sau</a:t>
            </a:r>
            <a:r>
              <a:rPr 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endParaRPr kumimoji="1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B6CD35-FD94-4534-B7BD-C234D4564284}"/>
              </a:ext>
            </a:extLst>
          </p:cNvPr>
          <p:cNvSpPr/>
          <p:nvPr/>
        </p:nvSpPr>
        <p:spPr>
          <a:xfrm>
            <a:off x="4897930" y="3826712"/>
            <a:ext cx="1953143" cy="261090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R</a:t>
            </a: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obot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gắp</a:t>
            </a:r>
            <a:r>
              <a:rPr kumimoji="1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1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linh</a:t>
            </a:r>
            <a:r>
              <a:rPr kumimoji="1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1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kiện</a:t>
            </a:r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E1F445-8B4B-4A0D-8AB0-81AF33D572CE}"/>
              </a:ext>
            </a:extLst>
          </p:cNvPr>
          <p:cNvSpPr/>
          <p:nvPr/>
        </p:nvSpPr>
        <p:spPr>
          <a:xfrm>
            <a:off x="2411760" y="3808248"/>
            <a:ext cx="2120648" cy="936220"/>
          </a:xfrm>
          <a:prstGeom prst="rect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Máy</a:t>
            </a:r>
            <a:r>
              <a:rPr kumimoji="1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1" lang="en-US" sz="20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ép</a:t>
            </a:r>
            <a:r>
              <a:rPr kumimoji="1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1" lang="en-US" sz="20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nhựa</a:t>
            </a:r>
            <a:r>
              <a:rPr kumimoji="1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: Rounded Corners 257">
            <a:extLst>
              <a:ext uri="{FF2B5EF4-FFF2-40B4-BE49-F238E27FC236}">
                <a16:creationId xmlns:a16="http://schemas.microsoft.com/office/drawing/2014/main" id="{31D93F8C-A2A1-4AF6-A239-033368D7E9C2}"/>
              </a:ext>
            </a:extLst>
          </p:cNvPr>
          <p:cNvSpPr/>
          <p:nvPr/>
        </p:nvSpPr>
        <p:spPr>
          <a:xfrm>
            <a:off x="5394132" y="4117919"/>
            <a:ext cx="154034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1</a:t>
            </a:r>
          </a:p>
        </p:txBody>
      </p:sp>
      <p:sp>
        <p:nvSpPr>
          <p:cNvPr id="22" name="Rectangle: Rounded Corners 257">
            <a:extLst>
              <a:ext uri="{FF2B5EF4-FFF2-40B4-BE49-F238E27FC236}">
                <a16:creationId xmlns:a16="http://schemas.microsoft.com/office/drawing/2014/main" id="{58339AD7-48D7-46F9-ADB7-F1DEE86BCC89}"/>
              </a:ext>
            </a:extLst>
          </p:cNvPr>
          <p:cNvSpPr/>
          <p:nvPr/>
        </p:nvSpPr>
        <p:spPr>
          <a:xfrm>
            <a:off x="5652536" y="4117919"/>
            <a:ext cx="18051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2</a:t>
            </a:r>
          </a:p>
        </p:txBody>
      </p:sp>
      <p:sp>
        <p:nvSpPr>
          <p:cNvPr id="23" name="Rectangle: Rounded Corners 257">
            <a:extLst>
              <a:ext uri="{FF2B5EF4-FFF2-40B4-BE49-F238E27FC236}">
                <a16:creationId xmlns:a16="http://schemas.microsoft.com/office/drawing/2014/main" id="{279CEB29-A608-447A-82AB-290C1767CC34}"/>
              </a:ext>
            </a:extLst>
          </p:cNvPr>
          <p:cNvSpPr/>
          <p:nvPr/>
        </p:nvSpPr>
        <p:spPr>
          <a:xfrm>
            <a:off x="5937424" y="4126387"/>
            <a:ext cx="17678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3</a:t>
            </a:r>
          </a:p>
        </p:txBody>
      </p:sp>
      <p:sp>
        <p:nvSpPr>
          <p:cNvPr id="24" name="Rectangle: Rounded Corners 257">
            <a:extLst>
              <a:ext uri="{FF2B5EF4-FFF2-40B4-BE49-F238E27FC236}">
                <a16:creationId xmlns:a16="http://schemas.microsoft.com/office/drawing/2014/main" id="{569136FF-710C-4600-B6DE-81681F3C3DC3}"/>
              </a:ext>
            </a:extLst>
          </p:cNvPr>
          <p:cNvSpPr/>
          <p:nvPr/>
        </p:nvSpPr>
        <p:spPr>
          <a:xfrm>
            <a:off x="6258228" y="4117919"/>
            <a:ext cx="171505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LK 4</a:t>
            </a:r>
          </a:p>
        </p:txBody>
      </p:sp>
      <p:sp>
        <p:nvSpPr>
          <p:cNvPr id="25" name="Arrow: Right 277">
            <a:extLst>
              <a:ext uri="{FF2B5EF4-FFF2-40B4-BE49-F238E27FC236}">
                <a16:creationId xmlns:a16="http://schemas.microsoft.com/office/drawing/2014/main" id="{BFA85133-C4B3-4F6D-BB90-FAC36DE4E39E}"/>
              </a:ext>
            </a:extLst>
          </p:cNvPr>
          <p:cNvSpPr/>
          <p:nvPr/>
        </p:nvSpPr>
        <p:spPr>
          <a:xfrm rot="19369261">
            <a:off x="4552898" y="4183719"/>
            <a:ext cx="570727" cy="18682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miley Face 25">
            <a:extLst>
              <a:ext uri="{FF2B5EF4-FFF2-40B4-BE49-F238E27FC236}">
                <a16:creationId xmlns:a16="http://schemas.microsoft.com/office/drawing/2014/main" id="{45A564F8-4A11-4A5F-BE1D-06C549CDB882}"/>
              </a:ext>
            </a:extLst>
          </p:cNvPr>
          <p:cNvSpPr/>
          <p:nvPr/>
        </p:nvSpPr>
        <p:spPr>
          <a:xfrm rot="10800000">
            <a:off x="6701203" y="6203087"/>
            <a:ext cx="421340" cy="292751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B643FE-DE26-4042-A78B-D10D961B72AE}"/>
              </a:ext>
            </a:extLst>
          </p:cNvPr>
          <p:cNvSpPr/>
          <p:nvPr/>
        </p:nvSpPr>
        <p:spPr>
          <a:xfrm>
            <a:off x="7529999" y="5997546"/>
            <a:ext cx="799437" cy="622329"/>
          </a:xfrm>
          <a:prstGeom prst="rect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prstClr val="black"/>
                </a:solidFill>
                <a:latin typeface="Calibri"/>
              </a:rPr>
              <a:t>Khay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OK</a:t>
            </a:r>
            <a:r>
              <a:rPr kumimoji="1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1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Arrow: Right 277">
            <a:extLst>
              <a:ext uri="{FF2B5EF4-FFF2-40B4-BE49-F238E27FC236}">
                <a16:creationId xmlns:a16="http://schemas.microsoft.com/office/drawing/2014/main" id="{9C3C093C-280C-438D-98C9-2694A2AEE414}"/>
              </a:ext>
            </a:extLst>
          </p:cNvPr>
          <p:cNvSpPr/>
          <p:nvPr/>
        </p:nvSpPr>
        <p:spPr>
          <a:xfrm>
            <a:off x="7225471" y="6240569"/>
            <a:ext cx="251965" cy="217788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60B513-090E-4276-806C-D6B35F638A07}"/>
              </a:ext>
            </a:extLst>
          </p:cNvPr>
          <p:cNvSpPr/>
          <p:nvPr/>
        </p:nvSpPr>
        <p:spPr>
          <a:xfrm>
            <a:off x="3876478" y="5767410"/>
            <a:ext cx="1035064" cy="606379"/>
          </a:xfrm>
          <a:prstGeom prst="rect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prstClr val="black"/>
                </a:solidFill>
                <a:latin typeface="Calibri"/>
              </a:rPr>
              <a:t>Khay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NG</a:t>
            </a:r>
            <a:r>
              <a:rPr kumimoji="1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1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73FC80B6-C80E-4530-8636-C1F7EF9AD1B5}"/>
              </a:ext>
            </a:extLst>
          </p:cNvPr>
          <p:cNvSpPr/>
          <p:nvPr/>
        </p:nvSpPr>
        <p:spPr>
          <a:xfrm>
            <a:off x="5122343" y="4656396"/>
            <a:ext cx="1280026" cy="1141004"/>
          </a:xfrm>
          <a:prstGeom prst="cube">
            <a:avLst/>
          </a:prstGeom>
          <a:ln w="952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Máy</a:t>
            </a:r>
            <a:r>
              <a:rPr kumimoji="1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kiểm</a:t>
            </a:r>
            <a:r>
              <a:rPr kumimoji="1" lang="en-US" sz="16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1600" b="0" i="0" u="none" strike="noStrike" kern="1200" cap="none" spc="0" normalizeH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</a:t>
            </a:r>
            <a:r>
              <a:rPr kumimoji="1" lang="en-US" sz="1600" b="0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CTKT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Arrow: Right 277">
            <a:extLst>
              <a:ext uri="{FF2B5EF4-FFF2-40B4-BE49-F238E27FC236}">
                <a16:creationId xmlns:a16="http://schemas.microsoft.com/office/drawing/2014/main" id="{5334863F-C453-4E83-A58B-3779D6894CBF}"/>
              </a:ext>
            </a:extLst>
          </p:cNvPr>
          <p:cNvSpPr/>
          <p:nvPr/>
        </p:nvSpPr>
        <p:spPr>
          <a:xfrm rot="8252891">
            <a:off x="4734599" y="5490992"/>
            <a:ext cx="456654" cy="161898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Arrow: Right 277">
            <a:extLst>
              <a:ext uri="{FF2B5EF4-FFF2-40B4-BE49-F238E27FC236}">
                <a16:creationId xmlns:a16="http://schemas.microsoft.com/office/drawing/2014/main" id="{B5C275A6-14FE-4870-830F-138040E89A7A}"/>
              </a:ext>
            </a:extLst>
          </p:cNvPr>
          <p:cNvSpPr/>
          <p:nvPr/>
        </p:nvSpPr>
        <p:spPr>
          <a:xfrm rot="5400000">
            <a:off x="6858143" y="5335884"/>
            <a:ext cx="934072" cy="178995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257">
            <a:extLst>
              <a:ext uri="{FF2B5EF4-FFF2-40B4-BE49-F238E27FC236}">
                <a16:creationId xmlns:a16="http://schemas.microsoft.com/office/drawing/2014/main" id="{F9223427-A6C2-4B23-80AF-75BA8EBC7DAE}"/>
              </a:ext>
            </a:extLst>
          </p:cNvPr>
          <p:cNvSpPr/>
          <p:nvPr/>
        </p:nvSpPr>
        <p:spPr>
          <a:xfrm>
            <a:off x="6765767" y="4685177"/>
            <a:ext cx="370660" cy="13829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Máng</a:t>
            </a:r>
            <a:r>
              <a:rPr kumimoji="1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</a:t>
            </a:r>
            <a:r>
              <a:rPr kumimoji="1" lang="vi-V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ư</a:t>
            </a:r>
            <a:r>
              <a:rPr kumimoji="1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ợt</a:t>
            </a:r>
            <a:r>
              <a:rPr kumimoji="1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SP OK</a:t>
            </a:r>
          </a:p>
        </p:txBody>
      </p:sp>
      <p:sp>
        <p:nvSpPr>
          <p:cNvPr id="34" name="Arrow: Right 277">
            <a:extLst>
              <a:ext uri="{FF2B5EF4-FFF2-40B4-BE49-F238E27FC236}">
                <a16:creationId xmlns:a16="http://schemas.microsoft.com/office/drawing/2014/main" id="{87E79881-5A84-44EA-BC91-5A978CFFD488}"/>
              </a:ext>
            </a:extLst>
          </p:cNvPr>
          <p:cNvSpPr/>
          <p:nvPr/>
        </p:nvSpPr>
        <p:spPr>
          <a:xfrm>
            <a:off x="6440396" y="5179104"/>
            <a:ext cx="287343" cy="178995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Arrow: Right 277">
            <a:extLst>
              <a:ext uri="{FF2B5EF4-FFF2-40B4-BE49-F238E27FC236}">
                <a16:creationId xmlns:a16="http://schemas.microsoft.com/office/drawing/2014/main" id="{1946326A-26EF-4760-A5C6-6DF63DCECA49}"/>
              </a:ext>
            </a:extLst>
          </p:cNvPr>
          <p:cNvSpPr/>
          <p:nvPr/>
        </p:nvSpPr>
        <p:spPr>
          <a:xfrm rot="10800000">
            <a:off x="5170067" y="3247722"/>
            <a:ext cx="251965" cy="203541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F5E3CF-E4EE-4BEE-A436-E4DA3B55697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6. Ý T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ỞNG CƠ KHÍ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AB69BE-3643-4F8D-A560-1174047ED60E}"/>
              </a:ext>
            </a:extLst>
          </p:cNvPr>
          <p:cNvCxnSpPr>
            <a:cxnSpLocks/>
          </p:cNvCxnSpPr>
          <p:nvPr/>
        </p:nvCxnSpPr>
        <p:spPr>
          <a:xfrm>
            <a:off x="427582" y="3730532"/>
            <a:ext cx="117043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59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1CC3E1-7B5E-43C2-8389-BCCAA55E2BA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7. CẤU THÀNH TỔNG THỂ THIẾT BỊ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F50A02-143C-4CC2-A4D0-E254E25FF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969912"/>
              </p:ext>
            </p:extLst>
          </p:nvPr>
        </p:nvGraphicFramePr>
        <p:xfrm>
          <a:off x="265930" y="1145059"/>
          <a:ext cx="2681402" cy="2729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49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49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robot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08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Cụm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camera </a:t>
                      </a:r>
                      <a:r>
                        <a:rPr lang="en-US" sz="12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CTKT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08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Cụm</a:t>
                      </a: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sz="12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OK, 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15D357-565E-4573-9F58-5820AAA51727}"/>
              </a:ext>
            </a:extLst>
          </p:cNvPr>
          <p:cNvSpPr txBox="1"/>
          <p:nvPr/>
        </p:nvSpPr>
        <p:spPr>
          <a:xfrm>
            <a:off x="215217" y="483042"/>
            <a:ext cx="282495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56BA8B-1988-4F74-AC34-E7BE17405AC6}"/>
              </a:ext>
            </a:extLst>
          </p:cNvPr>
          <p:cNvGrpSpPr/>
          <p:nvPr/>
        </p:nvGrpSpPr>
        <p:grpSpPr>
          <a:xfrm>
            <a:off x="3414319" y="483042"/>
            <a:ext cx="8706019" cy="6144261"/>
            <a:chOff x="2909302" y="836712"/>
            <a:chExt cx="6172717" cy="5688632"/>
          </a:xfrm>
        </p:grpSpPr>
        <p:sp>
          <p:nvSpPr>
            <p:cNvPr id="5" name="Right Arrow 51">
              <a:extLst>
                <a:ext uri="{FF2B5EF4-FFF2-40B4-BE49-F238E27FC236}">
                  <a16:creationId xmlns:a16="http://schemas.microsoft.com/office/drawing/2014/main" id="{C1A692D1-9947-476A-92BB-230D0CAF9216}"/>
                </a:ext>
              </a:extLst>
            </p:cNvPr>
            <p:cNvSpPr/>
            <p:nvPr/>
          </p:nvSpPr>
          <p:spPr>
            <a:xfrm>
              <a:off x="3635057" y="3905372"/>
              <a:ext cx="353866" cy="845918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C43E45F-0FED-492F-90A1-8DCFAA0BD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9302" y="836712"/>
              <a:ext cx="6172717" cy="5688632"/>
            </a:xfrm>
            <a:prstGeom prst="rect">
              <a:avLst/>
            </a:prstGeom>
          </p:spPr>
        </p:pic>
        <p:sp>
          <p:nvSpPr>
            <p:cNvPr id="10" name="Rounded Rectangle 19">
              <a:extLst>
                <a:ext uri="{FF2B5EF4-FFF2-40B4-BE49-F238E27FC236}">
                  <a16:creationId xmlns:a16="http://schemas.microsoft.com/office/drawing/2014/main" id="{6FD02B02-CB3E-41C4-A6E9-2FFD070F1C94}"/>
                </a:ext>
              </a:extLst>
            </p:cNvPr>
            <p:cNvSpPr/>
            <p:nvPr/>
          </p:nvSpPr>
          <p:spPr>
            <a:xfrm>
              <a:off x="6372200" y="884731"/>
              <a:ext cx="1187272" cy="7296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1-Cụm robot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gá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E534569-A150-4942-BAD0-22C6CA75518E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965836" y="1614413"/>
              <a:ext cx="630500" cy="43105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7E624BC-A615-465A-8715-F2BDB49E5B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72200" y="3485944"/>
              <a:ext cx="1080120" cy="8423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27">
              <a:extLst>
                <a:ext uri="{FF2B5EF4-FFF2-40B4-BE49-F238E27FC236}">
                  <a16:creationId xmlns:a16="http://schemas.microsoft.com/office/drawing/2014/main" id="{57BDABBB-B903-4267-BBAD-90E75748863D}"/>
                </a:ext>
              </a:extLst>
            </p:cNvPr>
            <p:cNvSpPr/>
            <p:nvPr/>
          </p:nvSpPr>
          <p:spPr>
            <a:xfrm>
              <a:off x="7370983" y="4297556"/>
              <a:ext cx="1187272" cy="7296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2-Cụm camera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CTKT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4ACD8B-0A4A-4BF0-A532-86480B5B04A0}"/>
                </a:ext>
              </a:extLst>
            </p:cNvPr>
            <p:cNvSpPr/>
            <p:nvPr/>
          </p:nvSpPr>
          <p:spPr>
            <a:xfrm rot="19501694">
              <a:off x="4580471" y="4782955"/>
              <a:ext cx="1865979" cy="1087941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Băng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tải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sp</a:t>
              </a:r>
              <a:r>
                <a:rPr lang="en-US" dirty="0">
                  <a:solidFill>
                    <a:schemeClr val="tx1"/>
                  </a:solidFill>
                </a:rPr>
                <a:t> OK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7486451-64D1-48C5-AD02-9FBC49ED73B9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3814583" y="2384768"/>
              <a:ext cx="669954" cy="18685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36">
              <a:extLst>
                <a:ext uri="{FF2B5EF4-FFF2-40B4-BE49-F238E27FC236}">
                  <a16:creationId xmlns:a16="http://schemas.microsoft.com/office/drawing/2014/main" id="{555A6F8A-6544-4015-9FB1-E60FF0AD330D}"/>
                </a:ext>
              </a:extLst>
            </p:cNvPr>
            <p:cNvSpPr/>
            <p:nvPr/>
          </p:nvSpPr>
          <p:spPr>
            <a:xfrm>
              <a:off x="2933483" y="1655085"/>
              <a:ext cx="1762199" cy="7296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3-Cụm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sản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phẩm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OK, NG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45F45E-0841-4B4A-B9FD-FC0D65870BE0}"/>
                </a:ext>
              </a:extLst>
            </p:cNvPr>
            <p:cNvSpPr/>
            <p:nvPr/>
          </p:nvSpPr>
          <p:spPr>
            <a:xfrm rot="19400537">
              <a:off x="3028310" y="3317006"/>
              <a:ext cx="1134119" cy="765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</a:rPr>
                <a:t>Khay</a:t>
              </a:r>
              <a:r>
                <a:rPr lang="en-US" dirty="0">
                  <a:solidFill>
                    <a:srgbClr val="FF0000"/>
                  </a:solidFill>
                </a:rPr>
                <a:t> NG</a:t>
              </a:r>
            </a:p>
          </p:txBody>
        </p:sp>
        <p:sp>
          <p:nvSpPr>
            <p:cNvPr id="18" name="Down Arrow 8">
              <a:extLst>
                <a:ext uri="{FF2B5EF4-FFF2-40B4-BE49-F238E27FC236}">
                  <a16:creationId xmlns:a16="http://schemas.microsoft.com/office/drawing/2014/main" id="{44F80BEC-E4CA-4180-8832-0C9F955C8583}"/>
                </a:ext>
              </a:extLst>
            </p:cNvPr>
            <p:cNvSpPr/>
            <p:nvPr/>
          </p:nvSpPr>
          <p:spPr>
            <a:xfrm rot="3162433">
              <a:off x="6905744" y="2962457"/>
              <a:ext cx="297361" cy="57606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Down Arrow 21">
              <a:extLst>
                <a:ext uri="{FF2B5EF4-FFF2-40B4-BE49-F238E27FC236}">
                  <a16:creationId xmlns:a16="http://schemas.microsoft.com/office/drawing/2014/main" id="{C948AB6D-05D2-4210-B6C7-17D40739D16C}"/>
                </a:ext>
              </a:extLst>
            </p:cNvPr>
            <p:cNvSpPr/>
            <p:nvPr/>
          </p:nvSpPr>
          <p:spPr>
            <a:xfrm rot="3162433">
              <a:off x="5263185" y="4081566"/>
              <a:ext cx="297361" cy="57606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Down Arrow 22">
              <a:extLst>
                <a:ext uri="{FF2B5EF4-FFF2-40B4-BE49-F238E27FC236}">
                  <a16:creationId xmlns:a16="http://schemas.microsoft.com/office/drawing/2014/main" id="{10AFCB35-D7C6-46BE-BB0D-29C034AD3E0C}"/>
                </a:ext>
              </a:extLst>
            </p:cNvPr>
            <p:cNvSpPr/>
            <p:nvPr/>
          </p:nvSpPr>
          <p:spPr>
            <a:xfrm rot="19372652">
              <a:off x="4839026" y="4713801"/>
              <a:ext cx="297361" cy="57606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own Arrow 23">
              <a:extLst>
                <a:ext uri="{FF2B5EF4-FFF2-40B4-BE49-F238E27FC236}">
                  <a16:creationId xmlns:a16="http://schemas.microsoft.com/office/drawing/2014/main" id="{B2B043B5-A615-4434-ABE8-487F9BD0C601}"/>
                </a:ext>
              </a:extLst>
            </p:cNvPr>
            <p:cNvSpPr/>
            <p:nvPr/>
          </p:nvSpPr>
          <p:spPr>
            <a:xfrm rot="7860795">
              <a:off x="3890917" y="3882066"/>
              <a:ext cx="297361" cy="437695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665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8014E-C3C4-414C-8306-D9F5D62D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defRPr/>
            </a:pPr>
            <a:fld id="{D2D8002D-B5B0-4BAC-B1F6-782DDCCE6D9C}" type="slidenum">
              <a:rPr kumimoji="1" lang="ja-JP" altLang="en-US" sz="1000">
                <a:solidFill>
                  <a:prstClr val="black"/>
                </a:solidFill>
                <a:latin typeface="Arial" pitchFamily="34" charset="0"/>
                <a:ea typeface="ＭＳ Ｐゴシック" panose="020B0600070205080204" pitchFamily="34" charset="-128"/>
                <a:cs typeface="Arial" pitchFamily="34" charset="0"/>
              </a:rPr>
              <a:pPr algn="ctr">
                <a:defRPr/>
              </a:pPr>
              <a:t>9</a:t>
            </a:fld>
            <a:endParaRPr kumimoji="1" lang="ja-JP" altLang="en-US" sz="1000">
              <a:solidFill>
                <a:prstClr val="black"/>
              </a:solidFill>
              <a:latin typeface="Arial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129" name="Title 1"/>
          <p:cNvSpPr txBox="1">
            <a:spLocks/>
          </p:cNvSpPr>
          <p:nvPr/>
        </p:nvSpPr>
        <p:spPr>
          <a:xfrm>
            <a:off x="1524000" y="116632"/>
            <a:ext cx="6851104" cy="61810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2. Ý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tưởng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thiết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kế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5646583-4EED-4B6D-9CC9-4E9301FA2636}"/>
              </a:ext>
            </a:extLst>
          </p:cNvPr>
          <p:cNvSpPr/>
          <p:nvPr/>
        </p:nvSpPr>
        <p:spPr>
          <a:xfrm>
            <a:off x="3623289" y="941664"/>
            <a:ext cx="1678930" cy="261090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R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obot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gắp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linh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kiện</a:t>
            </a:r>
            <a:endParaRPr kumimoji="1"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3384ED1-34C4-470D-A533-4CD2B6B8CB3C}"/>
              </a:ext>
            </a:extLst>
          </p:cNvPr>
          <p:cNvSpPr/>
          <p:nvPr/>
        </p:nvSpPr>
        <p:spPr>
          <a:xfrm>
            <a:off x="2097662" y="873835"/>
            <a:ext cx="1167622" cy="1187013"/>
          </a:xfrm>
          <a:prstGeom prst="rect">
            <a:avLst/>
          </a:prstGeom>
          <a:solidFill>
            <a:srgbClr val="00B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2000" dirty="0" err="1">
                <a:solidFill>
                  <a:prstClr val="black"/>
                </a:solidFill>
                <a:latin typeface="Calibri"/>
              </a:rPr>
              <a:t>Máy</a:t>
            </a:r>
            <a:r>
              <a:rPr kumimoji="1"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2000" dirty="0" err="1">
                <a:solidFill>
                  <a:prstClr val="black"/>
                </a:solidFill>
                <a:latin typeface="Calibri"/>
              </a:rPr>
              <a:t>ép</a:t>
            </a:r>
            <a:r>
              <a:rPr kumimoji="1"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2000" dirty="0" err="1">
                <a:solidFill>
                  <a:prstClr val="black"/>
                </a:solidFill>
                <a:latin typeface="Calibri"/>
              </a:rPr>
              <a:t>nhựa</a:t>
            </a:r>
            <a:r>
              <a:rPr kumimoji="1" lang="en-US" sz="20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144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3981859" y="1278575"/>
            <a:ext cx="13240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1</a:t>
            </a:r>
          </a:p>
        </p:txBody>
      </p:sp>
      <p:sp>
        <p:nvSpPr>
          <p:cNvPr id="145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4240263" y="1278575"/>
            <a:ext cx="155174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2</a:t>
            </a:r>
          </a:p>
        </p:txBody>
      </p:sp>
      <p:sp>
        <p:nvSpPr>
          <p:cNvPr id="146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4525151" y="1287043"/>
            <a:ext cx="151968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3</a:t>
            </a:r>
          </a:p>
        </p:txBody>
      </p:sp>
      <p:sp>
        <p:nvSpPr>
          <p:cNvPr id="147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4799959" y="1278575"/>
            <a:ext cx="147426" cy="51041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4</a:t>
            </a:r>
          </a:p>
        </p:txBody>
      </p:sp>
      <p:sp>
        <p:nvSpPr>
          <p:cNvPr id="148" name="Arrow: Right 277">
            <a:extLst>
              <a:ext uri="{FF2B5EF4-FFF2-40B4-BE49-F238E27FC236}">
                <a16:creationId xmlns:a16="http://schemas.microsoft.com/office/drawing/2014/main" id="{F49CDD2B-7BB6-400E-A1A1-7009CAC55CF9}"/>
              </a:ext>
            </a:extLst>
          </p:cNvPr>
          <p:cNvSpPr/>
          <p:nvPr/>
        </p:nvSpPr>
        <p:spPr>
          <a:xfrm>
            <a:off x="3270528" y="1410422"/>
            <a:ext cx="282446" cy="18682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kumimoji="1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3" name="Cube 152">
            <a:extLst>
              <a:ext uri="{FF2B5EF4-FFF2-40B4-BE49-F238E27FC236}">
                <a16:creationId xmlns:a16="http://schemas.microsoft.com/office/drawing/2014/main" id="{B5DC7555-FFC8-4563-A793-CB5940A7B5A4}"/>
              </a:ext>
            </a:extLst>
          </p:cNvPr>
          <p:cNvSpPr/>
          <p:nvPr/>
        </p:nvSpPr>
        <p:spPr>
          <a:xfrm>
            <a:off x="5826477" y="941664"/>
            <a:ext cx="1280026" cy="1141004"/>
          </a:xfrm>
          <a:prstGeom prst="cube">
            <a:avLst/>
          </a:prstGeom>
          <a:ln w="9525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kumimoji="1"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kumimoji="1"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sz="16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kumimoji="1"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CTKT</a:t>
            </a:r>
          </a:p>
        </p:txBody>
      </p:sp>
      <p:sp>
        <p:nvSpPr>
          <p:cNvPr id="157" name="Arrow: Right 277">
            <a:extLst>
              <a:ext uri="{FF2B5EF4-FFF2-40B4-BE49-F238E27FC236}">
                <a16:creationId xmlns:a16="http://schemas.microsoft.com/office/drawing/2014/main" id="{F49CDD2B-7BB6-400E-A1A1-7009CAC55CF9}"/>
              </a:ext>
            </a:extLst>
          </p:cNvPr>
          <p:cNvSpPr/>
          <p:nvPr/>
        </p:nvSpPr>
        <p:spPr>
          <a:xfrm>
            <a:off x="5420678" y="1288345"/>
            <a:ext cx="287343" cy="17899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kumimoji="1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Arrow: Right 277">
            <a:extLst>
              <a:ext uri="{FF2B5EF4-FFF2-40B4-BE49-F238E27FC236}">
                <a16:creationId xmlns:a16="http://schemas.microsoft.com/office/drawing/2014/main" id="{F49CDD2B-7BB6-400E-A1A1-7009CAC55CF9}"/>
              </a:ext>
            </a:extLst>
          </p:cNvPr>
          <p:cNvSpPr/>
          <p:nvPr/>
        </p:nvSpPr>
        <p:spPr>
          <a:xfrm rot="8860012">
            <a:off x="3914137" y="2485879"/>
            <a:ext cx="1956956" cy="178996"/>
          </a:xfrm>
          <a:prstGeom prst="rightArrow">
            <a:avLst/>
          </a:prstGeom>
          <a:solidFill>
            <a:srgbClr val="7030A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kumimoji="1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646583-4EED-4B6D-9CC9-4E9301FA2636}"/>
              </a:ext>
            </a:extLst>
          </p:cNvPr>
          <p:cNvSpPr/>
          <p:nvPr/>
        </p:nvSpPr>
        <p:spPr>
          <a:xfrm>
            <a:off x="2188862" y="3799771"/>
            <a:ext cx="1678930" cy="9450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kumimoji="1"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2423592" y="3832302"/>
            <a:ext cx="159074" cy="88836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1</a:t>
            </a:r>
          </a:p>
        </p:txBody>
      </p:sp>
      <p:sp>
        <p:nvSpPr>
          <p:cNvPr id="41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2747180" y="3836348"/>
            <a:ext cx="186425" cy="88836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2</a:t>
            </a:r>
          </a:p>
        </p:txBody>
      </p:sp>
      <p:sp>
        <p:nvSpPr>
          <p:cNvPr id="42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3078273" y="3832302"/>
            <a:ext cx="182573" cy="88836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3</a:t>
            </a:r>
          </a:p>
        </p:txBody>
      </p:sp>
      <p:sp>
        <p:nvSpPr>
          <p:cNvPr id="43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3409984" y="3833533"/>
            <a:ext cx="177117" cy="88836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646583-4EED-4B6D-9CC9-4E9301FA2636}"/>
              </a:ext>
            </a:extLst>
          </p:cNvPr>
          <p:cNvSpPr/>
          <p:nvPr/>
        </p:nvSpPr>
        <p:spPr>
          <a:xfrm>
            <a:off x="2188862" y="3501008"/>
            <a:ext cx="1678930" cy="261090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Cụm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gá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linh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kiẹn</a:t>
            </a:r>
            <a:endParaRPr kumimoji="1"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646583-4EED-4B6D-9CC9-4E9301FA2636}"/>
              </a:ext>
            </a:extLst>
          </p:cNvPr>
          <p:cNvSpPr/>
          <p:nvPr/>
        </p:nvSpPr>
        <p:spPr>
          <a:xfrm>
            <a:off x="5486963" y="3861384"/>
            <a:ext cx="1678930" cy="9450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kumimoji="1"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646583-4EED-4B6D-9CC9-4E9301FA2636}"/>
              </a:ext>
            </a:extLst>
          </p:cNvPr>
          <p:cNvSpPr/>
          <p:nvPr/>
        </p:nvSpPr>
        <p:spPr>
          <a:xfrm>
            <a:off x="5486963" y="2461207"/>
            <a:ext cx="1678930" cy="261090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Cụm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Kiểm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1" lang="en-US" sz="1200" dirty="0" err="1">
                <a:solidFill>
                  <a:prstClr val="black"/>
                </a:solidFill>
                <a:latin typeface="Calibri"/>
              </a:rPr>
              <a:t>tra</a:t>
            </a:r>
            <a:r>
              <a:rPr kumimoji="1" lang="en-US" sz="1200" dirty="0">
                <a:solidFill>
                  <a:prstClr val="black"/>
                </a:solidFill>
                <a:latin typeface="Calibri"/>
              </a:rPr>
              <a:t> CTKT</a:t>
            </a:r>
          </a:p>
        </p:txBody>
      </p:sp>
      <p:sp>
        <p:nvSpPr>
          <p:cNvPr id="50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5767251" y="3857768"/>
            <a:ext cx="158377" cy="9486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1</a:t>
            </a:r>
          </a:p>
        </p:txBody>
      </p:sp>
      <p:sp>
        <p:nvSpPr>
          <p:cNvPr id="51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6121391" y="3857769"/>
            <a:ext cx="155174" cy="94782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2</a:t>
            </a:r>
          </a:p>
        </p:txBody>
      </p:sp>
      <p:sp>
        <p:nvSpPr>
          <p:cNvPr id="52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6451838" y="3857769"/>
            <a:ext cx="151968" cy="94782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3</a:t>
            </a:r>
          </a:p>
        </p:txBody>
      </p:sp>
      <p:sp>
        <p:nvSpPr>
          <p:cNvPr id="53" name="Rectangle: Rounded Corners 257">
            <a:extLst>
              <a:ext uri="{FF2B5EF4-FFF2-40B4-BE49-F238E27FC236}">
                <a16:creationId xmlns:a16="http://schemas.microsoft.com/office/drawing/2014/main" id="{C84B2873-B214-458E-90A8-23688228276A}"/>
              </a:ext>
            </a:extLst>
          </p:cNvPr>
          <p:cNvSpPr/>
          <p:nvPr/>
        </p:nvSpPr>
        <p:spPr>
          <a:xfrm>
            <a:off x="6771753" y="3878236"/>
            <a:ext cx="158308" cy="92735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4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80235" y="3461532"/>
            <a:ext cx="158377" cy="370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6452058" y="3461532"/>
            <a:ext cx="158377" cy="370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86964" y="2836692"/>
            <a:ext cx="1398483" cy="572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Xilanh</a:t>
            </a:r>
            <a:r>
              <a:rPr lang="en-US" dirty="0"/>
              <a:t> </a:t>
            </a:r>
            <a:r>
              <a:rPr lang="en-US" dirty="0" err="1"/>
              <a:t>kẹp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cxnSp>
        <p:nvCxnSpPr>
          <p:cNvPr id="9" name="Elbow Connector 8"/>
          <p:cNvCxnSpPr>
            <a:endCxn id="51" idx="0"/>
          </p:cNvCxnSpPr>
          <p:nvPr/>
        </p:nvCxnSpPr>
        <p:spPr>
          <a:xfrm rot="10800000" flipV="1">
            <a:off x="6198978" y="3595876"/>
            <a:ext cx="833128" cy="261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76566" y="5445224"/>
            <a:ext cx="97156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 rot="10800000">
            <a:off x="6806258" y="4826906"/>
            <a:ext cx="158377" cy="370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Down Arrow 65"/>
          <p:cNvSpPr/>
          <p:nvPr/>
        </p:nvSpPr>
        <p:spPr>
          <a:xfrm rot="10800000">
            <a:off x="6125515" y="4810055"/>
            <a:ext cx="158377" cy="370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EA770E-7BD8-4D7F-AA1A-F0EF7BD060F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7. CẤU THÀNH TỔNG THỂ THIẾT BỊ</a:t>
            </a:r>
          </a:p>
        </p:txBody>
      </p:sp>
    </p:spTree>
    <p:extLst>
      <p:ext uri="{BB962C8B-B14F-4D97-AF65-F5344CB8AC3E}">
        <p14:creationId xmlns:p14="http://schemas.microsoft.com/office/powerpoint/2010/main" val="2871601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152882" y="6619876"/>
            <a:ext cx="2133600" cy="265509"/>
          </a:xfrm>
        </p:spPr>
        <p:txBody>
          <a:bodyPr/>
          <a:lstStyle/>
          <a:p>
            <a:pPr algn="ctr" defTabSz="457200">
              <a:defRPr/>
            </a:pPr>
            <a:fld id="{D2D8002D-B5B0-4BAC-B1F6-782DDCCE6D9C}" type="slidenum">
              <a:rPr kumimoji="1" lang="ja-JP" altLang="en-US" sz="1000">
                <a:solidFill>
                  <a:srgbClr val="000000"/>
                </a:solidFill>
                <a:ea typeface="Meiryo UI" panose="020B0604030504040204" pitchFamily="50" charset="-128"/>
              </a:rPr>
              <a:pPr algn="ctr" defTabSz="457200">
                <a:defRPr/>
              </a:pPr>
              <a:t>10</a:t>
            </a:fld>
            <a:endParaRPr kumimoji="1" lang="ja-JP" altLang="en-US" sz="1000">
              <a:solidFill>
                <a:srgbClr val="000000"/>
              </a:solidFill>
              <a:ea typeface="Meiryo UI" panose="020B0604030504040204" pitchFamily="50" charset="-128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4000" y="116632"/>
            <a:ext cx="6851104" cy="61810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3.1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Gi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i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thích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chi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tiết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các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cụm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1801221" y="1518652"/>
          <a:ext cx="2315070" cy="50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76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</a:t>
                      </a:r>
                      <a:r>
                        <a:rPr lang="en-US" sz="1400" b="1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6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ép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nhựa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Molding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6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Robot </a:t>
                      </a:r>
                      <a:r>
                        <a:rPr lang="en-US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kẹp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76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CTKT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76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</a:t>
                      </a:r>
                      <a:r>
                        <a:rPr lang="en-US" sz="14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endParaRPr lang="en-US" sz="1400" u="none" strike="noStrike" baseline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1595661" y="836713"/>
            <a:ext cx="392392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+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Cụm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gá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linh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kiện</a:t>
            </a:r>
            <a:endParaRPr kumimoji="1"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2863717"/>
            <a:ext cx="5393106" cy="369493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231904" y="5872184"/>
            <a:ext cx="936104" cy="6847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3</a:t>
            </a:r>
            <a:r>
              <a:rPr kumimoji="1"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-</a:t>
            </a:r>
            <a:r>
              <a:rPr kumimoji="1"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Bộ</a:t>
            </a:r>
            <a:r>
              <a:rPr kumimoji="1"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kumimoji="1"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gá</a:t>
            </a:r>
            <a:r>
              <a:rPr kumimoji="1"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l</a:t>
            </a:r>
            <a:r>
              <a:rPr kumimoji="1"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inh</a:t>
            </a:r>
            <a:r>
              <a:rPr kumimoji="1"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kumimoji="1"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kiện</a:t>
            </a:r>
            <a:endParaRPr kumimoji="1" lang="en-US" sz="1400" dirty="0">
              <a:solidFill>
                <a:srgbClr val="FFFFFF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V="1">
            <a:off x="5699956" y="5085185"/>
            <a:ext cx="1116124" cy="7869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11824" y="830616"/>
            <a:ext cx="2088232" cy="17342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1:Máy </a:t>
            </a:r>
            <a:r>
              <a:rPr lang="en-US" sz="3600" dirty="0" err="1">
                <a:solidFill>
                  <a:schemeClr val="tx1"/>
                </a:solidFill>
              </a:rPr>
              <a:t>ép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nhựa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507386" y="874668"/>
            <a:ext cx="1756966" cy="898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2: Robot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4233" y="1755788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85982" y="1755788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61477" y="1755788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32304" y="1763718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82278" y="4167695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453" y="4358625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11087" y="4613453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35251" y="4788063"/>
            <a:ext cx="216024" cy="1086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lk4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714743" y="1290566"/>
            <a:ext cx="614418" cy="33910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own Arrow 78"/>
          <p:cNvSpPr/>
          <p:nvPr/>
        </p:nvSpPr>
        <p:spPr>
          <a:xfrm>
            <a:off x="8147763" y="2900893"/>
            <a:ext cx="476213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E258A-A79D-43A5-9FE4-D99CFD65998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7. CẤU THÀNH TỔNG THỂ THIẾT BỊ</a:t>
            </a:r>
          </a:p>
        </p:txBody>
      </p:sp>
    </p:spTree>
    <p:extLst>
      <p:ext uri="{BB962C8B-B14F-4D97-AF65-F5344CB8AC3E}">
        <p14:creationId xmlns:p14="http://schemas.microsoft.com/office/powerpoint/2010/main" val="164809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152882" y="6619876"/>
            <a:ext cx="2133600" cy="265509"/>
          </a:xfrm>
        </p:spPr>
        <p:txBody>
          <a:bodyPr/>
          <a:lstStyle/>
          <a:p>
            <a:pPr algn="ctr" defTabSz="457200">
              <a:defRPr/>
            </a:pPr>
            <a:fld id="{D2D8002D-B5B0-4BAC-B1F6-782DDCCE6D9C}" type="slidenum">
              <a:rPr kumimoji="1" lang="ja-JP" altLang="en-US" sz="1000">
                <a:solidFill>
                  <a:srgbClr val="000000"/>
                </a:solidFill>
                <a:ea typeface="Meiryo UI" panose="020B0604030504040204" pitchFamily="50" charset="-128"/>
              </a:rPr>
              <a:pPr algn="ctr" defTabSz="457200">
                <a:defRPr/>
              </a:pPr>
              <a:t>11</a:t>
            </a:fld>
            <a:endParaRPr kumimoji="1" lang="ja-JP" altLang="en-US" sz="1000">
              <a:solidFill>
                <a:srgbClr val="000000"/>
              </a:solidFill>
              <a:ea typeface="Meiryo UI" panose="020B0604030504040204" pitchFamily="50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455BA-4E6F-44B7-92B2-08D44555C6BE}"/>
              </a:ext>
            </a:extLst>
          </p:cNvPr>
          <p:cNvGrpSpPr/>
          <p:nvPr/>
        </p:nvGrpSpPr>
        <p:grpSpPr>
          <a:xfrm>
            <a:off x="478112" y="851372"/>
            <a:ext cx="2091776" cy="4916976"/>
            <a:chOff x="2207568" y="1176320"/>
            <a:chExt cx="2091776" cy="4916976"/>
          </a:xfrm>
        </p:grpSpPr>
        <p:sp>
          <p:nvSpPr>
            <p:cNvPr id="76" name="Flowchart: Decision 75"/>
            <p:cNvSpPr/>
            <p:nvPr/>
          </p:nvSpPr>
          <p:spPr>
            <a:xfrm>
              <a:off x="2360665" y="2609295"/>
              <a:ext cx="1789348" cy="645475"/>
            </a:xfrm>
            <a:prstGeom prst="flowChartDecision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Xilanh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kẹp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sản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phẩm</a:t>
              </a:r>
              <a:endPara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Flowchart: Decision 76"/>
            <p:cNvSpPr/>
            <p:nvPr/>
          </p:nvSpPr>
          <p:spPr>
            <a:xfrm>
              <a:off x="2378097" y="3410239"/>
              <a:ext cx="1789348" cy="788029"/>
            </a:xfrm>
            <a:prstGeom prst="flowChartDecision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 quay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sản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phẩm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4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trí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516687" y="5445224"/>
              <a:ext cx="1512168" cy="64807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Cụm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sản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phẩm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594769" y="5181218"/>
              <a:ext cx="43204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OK</a:t>
              </a:r>
            </a:p>
          </p:txBody>
        </p:sp>
        <p:sp>
          <p:nvSpPr>
            <p:cNvPr id="80" name="Flowchart: Alternate Process 79"/>
            <p:cNvSpPr/>
            <p:nvPr/>
          </p:nvSpPr>
          <p:spPr>
            <a:xfrm>
              <a:off x="2207568" y="1176320"/>
              <a:ext cx="2091776" cy="408116"/>
            </a:xfrm>
            <a:prstGeom prst="flowChartAlternateProcess">
              <a:avLst/>
            </a:prstGeom>
            <a:solidFill>
              <a:srgbClr val="FFFF0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Cụm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gá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linh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Straight Arrow Connector 80"/>
            <p:cNvCxnSpPr>
              <a:cxnSpLocks/>
              <a:stCxn id="80" idx="2"/>
              <a:endCxn id="92" idx="0"/>
            </p:cNvCxnSpPr>
            <p:nvPr/>
          </p:nvCxnSpPr>
          <p:spPr>
            <a:xfrm>
              <a:off x="3253456" y="1584437"/>
              <a:ext cx="0" cy="148667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7DFF7132-40BA-4580-8CC1-4FCD4063022F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>
              <a:off x="3253456" y="2319276"/>
              <a:ext cx="0" cy="27419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Flowchart: Decision 83">
              <a:extLst>
                <a:ext uri="{FF2B5EF4-FFF2-40B4-BE49-F238E27FC236}">
                  <a16:creationId xmlns:a16="http://schemas.microsoft.com/office/drawing/2014/main" id="{4B79F0D5-7456-4BFD-829D-25D2ABF2B38E}"/>
                </a:ext>
              </a:extLst>
            </p:cNvPr>
            <p:cNvSpPr/>
            <p:nvPr/>
          </p:nvSpPr>
          <p:spPr>
            <a:xfrm>
              <a:off x="2378886" y="4345208"/>
              <a:ext cx="1789348" cy="788029"/>
            </a:xfrm>
            <a:prstGeom prst="flowChartDecision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CTKT</a:t>
              </a:r>
            </a:p>
          </p:txBody>
        </p:sp>
        <p:cxnSp>
          <p:nvCxnSpPr>
            <p:cNvPr id="88" name="Connector: Elbow 43">
              <a:extLst>
                <a:ext uri="{FF2B5EF4-FFF2-40B4-BE49-F238E27FC236}">
                  <a16:creationId xmlns:a16="http://schemas.microsoft.com/office/drawing/2014/main" id="{5B15502B-E2E4-4D75-9A19-3569F7CAD72D}"/>
                </a:ext>
              </a:extLst>
            </p:cNvPr>
            <p:cNvCxnSpPr>
              <a:stCxn id="84" idx="2"/>
              <a:endCxn id="78" idx="0"/>
            </p:cNvCxnSpPr>
            <p:nvPr/>
          </p:nvCxnSpPr>
          <p:spPr>
            <a:xfrm rot="5400000">
              <a:off x="3117172" y="5288837"/>
              <a:ext cx="311988" cy="789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3966EB2-65A7-4D65-BCEC-C8AB528D40AD}"/>
                </a:ext>
              </a:extLst>
            </p:cNvPr>
            <p:cNvCxnSpPr>
              <a:stCxn id="76" idx="2"/>
              <a:endCxn id="77" idx="0"/>
            </p:cNvCxnSpPr>
            <p:nvPr/>
          </p:nvCxnSpPr>
          <p:spPr>
            <a:xfrm>
              <a:off x="3255339" y="3254770"/>
              <a:ext cx="17432" cy="15546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Flowchart: Decision 91">
              <a:extLst>
                <a:ext uri="{FF2B5EF4-FFF2-40B4-BE49-F238E27FC236}">
                  <a16:creationId xmlns:a16="http://schemas.microsoft.com/office/drawing/2014/main" id="{1358F781-A258-436B-8CA1-CBE7E59FDB41}"/>
                </a:ext>
              </a:extLst>
            </p:cNvPr>
            <p:cNvSpPr/>
            <p:nvPr/>
          </p:nvSpPr>
          <p:spPr>
            <a:xfrm>
              <a:off x="2358782" y="1733103"/>
              <a:ext cx="1789348" cy="586172"/>
            </a:xfrm>
            <a:prstGeom prst="flowChartDecision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Xilanh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vẫn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linh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</a:t>
              </a:r>
              <a:r>
                <a:rPr lang="en-US" sz="8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cụm</a:t>
              </a:r>
              <a:r>
                <a: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KTCTKT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748600" y="3220227"/>
              <a:ext cx="43204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OK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657133" y="4198901"/>
              <a:ext cx="43204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OK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2697180" y="2356272"/>
              <a:ext cx="43204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OK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43966EB2-65A7-4D65-BCEC-C8AB528D40AD}"/>
                </a:ext>
              </a:extLst>
            </p:cNvPr>
            <p:cNvCxnSpPr>
              <a:stCxn id="77" idx="2"/>
              <a:endCxn id="84" idx="0"/>
            </p:cNvCxnSpPr>
            <p:nvPr/>
          </p:nvCxnSpPr>
          <p:spPr>
            <a:xfrm>
              <a:off x="3272772" y="4198267"/>
              <a:ext cx="789" cy="1469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657D4A6-DE2C-42E1-ACE5-C31E675266BA}"/>
              </a:ext>
            </a:extLst>
          </p:cNvPr>
          <p:cNvGrpSpPr/>
          <p:nvPr/>
        </p:nvGrpSpPr>
        <p:grpSpPr>
          <a:xfrm>
            <a:off x="3055483" y="570451"/>
            <a:ext cx="8998707" cy="5954894"/>
            <a:chOff x="4938003" y="1037905"/>
            <a:chExt cx="5694501" cy="548744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6946" y="1685238"/>
              <a:ext cx="5485558" cy="4840107"/>
            </a:xfrm>
            <a:prstGeom prst="rect">
              <a:avLst/>
            </a:prstGeom>
          </p:spPr>
        </p:pic>
        <p:sp>
          <p:nvSpPr>
            <p:cNvPr id="6" name="Right Arrow 5"/>
            <p:cNvSpPr/>
            <p:nvPr/>
          </p:nvSpPr>
          <p:spPr>
            <a:xfrm rot="8580289">
              <a:off x="9069864" y="2884066"/>
              <a:ext cx="1440160" cy="55338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938003" y="1037905"/>
              <a:ext cx="1492375" cy="61690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1:Camera ELP </a:t>
              </a:r>
            </a:p>
          </p:txBody>
        </p:sp>
        <p:cxnSp>
          <p:nvCxnSpPr>
            <p:cNvPr id="18" name="Straight Arrow Connector 17"/>
            <p:cNvCxnSpPr>
              <a:stCxn id="17" idx="2"/>
            </p:cNvCxnSpPr>
            <p:nvPr/>
          </p:nvCxnSpPr>
          <p:spPr>
            <a:xfrm>
              <a:off x="5684191" y="1654812"/>
              <a:ext cx="1402499" cy="134214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8580132" y="6021288"/>
              <a:ext cx="1903415" cy="50405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2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: Motor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oriential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quay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sản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phảm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25" name="Straight Arrow Connector 24"/>
            <p:cNvCxnSpPr>
              <a:stCxn id="21" idx="0"/>
            </p:cNvCxnSpPr>
            <p:nvPr/>
          </p:nvCxnSpPr>
          <p:spPr>
            <a:xfrm flipH="1" flipV="1">
              <a:off x="8688289" y="5013176"/>
              <a:ext cx="843551" cy="10081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9572283" y="3571795"/>
              <a:ext cx="987391" cy="1030933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3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: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Xilanh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định</a:t>
              </a: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vị</a:t>
              </a:r>
              <a:endParaRPr kumimoji="1"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8613137" y="4077073"/>
              <a:ext cx="939607" cy="33785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8215925" y="4656882"/>
              <a:ext cx="647781" cy="43169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8829939" y="1068331"/>
              <a:ext cx="1755006" cy="586480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3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: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Xilanh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SMC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kẹp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sản</a:t>
              </a:r>
              <a:r>
                <a:rPr kumimoji="1"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 </a:t>
              </a:r>
              <a:r>
                <a:rPr kumimoji="1" lang="en-US" sz="1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Meiryo UI"/>
                  <a:cs typeface="Times New Roman" panose="02020603050405020304" pitchFamily="18" charset="0"/>
                </a:rPr>
                <a:t>phẩm</a:t>
              </a:r>
              <a:endParaRPr kumimoji="1"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4"/>
            <p:cNvCxnSpPr>
              <a:stCxn id="34" idx="2"/>
            </p:cNvCxnSpPr>
            <p:nvPr/>
          </p:nvCxnSpPr>
          <p:spPr>
            <a:xfrm flipH="1">
              <a:off x="8530776" y="1654812"/>
              <a:ext cx="1176666" cy="22062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ight Arrow 134"/>
            <p:cNvSpPr/>
            <p:nvPr/>
          </p:nvSpPr>
          <p:spPr>
            <a:xfrm rot="8611729">
              <a:off x="5118727" y="5104442"/>
              <a:ext cx="1440160" cy="55338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2E60C0A-F740-4BC9-99AB-CEDFA99F0AC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8. CHI TIẾT CÁC CỤM C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CẤU</a:t>
            </a:r>
          </a:p>
        </p:txBody>
      </p:sp>
    </p:spTree>
    <p:extLst>
      <p:ext uri="{BB962C8B-B14F-4D97-AF65-F5344CB8AC3E}">
        <p14:creationId xmlns:p14="http://schemas.microsoft.com/office/powerpoint/2010/main" val="339440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152882" y="6619876"/>
            <a:ext cx="2133600" cy="265509"/>
          </a:xfrm>
        </p:spPr>
        <p:txBody>
          <a:bodyPr/>
          <a:lstStyle/>
          <a:p>
            <a:pPr algn="ctr" defTabSz="457200">
              <a:defRPr/>
            </a:pPr>
            <a:fld id="{D2D8002D-B5B0-4BAC-B1F6-782DDCCE6D9C}" type="slidenum">
              <a:rPr kumimoji="1" lang="ja-JP" altLang="en-US" sz="1000">
                <a:solidFill>
                  <a:srgbClr val="000000"/>
                </a:solidFill>
                <a:ea typeface="Meiryo UI" panose="020B0604030504040204" pitchFamily="50" charset="-128"/>
              </a:rPr>
              <a:pPr algn="ctr" defTabSz="457200">
                <a:defRPr/>
              </a:pPr>
              <a:t>12</a:t>
            </a:fld>
            <a:endParaRPr kumimoji="1" lang="ja-JP" altLang="en-US" sz="1000">
              <a:solidFill>
                <a:srgbClr val="000000"/>
              </a:solidFill>
              <a:ea typeface="Meiryo UI" panose="020B0604030504040204" pitchFamily="50" charset="-128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4000" y="116632"/>
            <a:ext cx="6851104" cy="61810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3.1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Gi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ả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i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thích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chi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tiết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các</a:t>
            </a:r>
            <a:r>
              <a:rPr lang="en-US" altLang="ja-JP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</a:t>
            </a:r>
            <a:r>
              <a:rPr lang="en-US" altLang="ja-JP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cụm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sp>
        <p:nvSpPr>
          <p:cNvPr id="28" name="Flowchart: Decision 27"/>
          <p:cNvSpPr/>
          <p:nvPr/>
        </p:nvSpPr>
        <p:spPr>
          <a:xfrm>
            <a:off x="3715440" y="2848172"/>
            <a:ext cx="1789348" cy="1012890"/>
          </a:xfrm>
          <a:prstGeom prst="flowChartDecision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Xilanh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7728" y="5533179"/>
            <a:ext cx="1913324" cy="460024"/>
          </a:xfrm>
          <a:prstGeom prst="rect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955723" y="4985626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33" name="Flowchart: Alternate Process 32"/>
          <p:cNvSpPr/>
          <p:nvPr/>
        </p:nvSpPr>
        <p:spPr>
          <a:xfrm>
            <a:off x="5017087" y="889439"/>
            <a:ext cx="2091776" cy="408116"/>
          </a:xfrm>
          <a:prstGeom prst="flowChartAlternateProcess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KTCTKT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FF7132-40BA-4580-8CC1-4FCD4063022F}"/>
              </a:ext>
            </a:extLst>
          </p:cNvPr>
          <p:cNvCxnSpPr>
            <a:cxnSpLocks/>
            <a:stCxn id="40" idx="2"/>
            <a:endCxn id="28" idx="0"/>
          </p:cNvCxnSpPr>
          <p:nvPr/>
        </p:nvCxnSpPr>
        <p:spPr>
          <a:xfrm flipH="1">
            <a:off x="4610114" y="2620270"/>
            <a:ext cx="4296" cy="22790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4B79F0D5-7456-4BFD-829D-25D2ABF2B38E}"/>
              </a:ext>
            </a:extLst>
          </p:cNvPr>
          <p:cNvSpPr/>
          <p:nvPr/>
        </p:nvSpPr>
        <p:spPr>
          <a:xfrm>
            <a:off x="3721305" y="4131081"/>
            <a:ext cx="1789348" cy="1007577"/>
          </a:xfrm>
          <a:prstGeom prst="flowChartDecision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966EB2-65A7-4D65-BCEC-C8AB528D40AD}"/>
              </a:ext>
            </a:extLst>
          </p:cNvPr>
          <p:cNvCxnSpPr>
            <a:stCxn id="28" idx="2"/>
            <a:endCxn id="36" idx="0"/>
          </p:cNvCxnSpPr>
          <p:nvPr/>
        </p:nvCxnSpPr>
        <p:spPr>
          <a:xfrm>
            <a:off x="4610115" y="3861062"/>
            <a:ext cx="5865" cy="2700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>
            <a:extLst>
              <a:ext uri="{FF2B5EF4-FFF2-40B4-BE49-F238E27FC236}">
                <a16:creationId xmlns:a16="http://schemas.microsoft.com/office/drawing/2014/main" id="{1358F781-A258-436B-8CA1-CBE7E59FDB41}"/>
              </a:ext>
            </a:extLst>
          </p:cNvPr>
          <p:cNvSpPr/>
          <p:nvPr/>
        </p:nvSpPr>
        <p:spPr>
          <a:xfrm>
            <a:off x="3719736" y="1537511"/>
            <a:ext cx="1789348" cy="1082759"/>
          </a:xfrm>
          <a:prstGeom prst="flowChartDecision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949687" y="2628598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18087" y="4003309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5711" y="1364871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cxnSp>
        <p:nvCxnSpPr>
          <p:cNvPr id="8" name="Elbow Connector 7"/>
          <p:cNvCxnSpPr>
            <a:stCxn id="33" idx="3"/>
            <a:endCxn id="83" idx="0"/>
          </p:cNvCxnSpPr>
          <p:nvPr/>
        </p:nvCxnSpPr>
        <p:spPr>
          <a:xfrm>
            <a:off x="7108863" y="1093498"/>
            <a:ext cx="383984" cy="391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006767" y="1351496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cxnSp>
        <p:nvCxnSpPr>
          <p:cNvPr id="15" name="Elbow Connector 14"/>
          <p:cNvCxnSpPr>
            <a:stCxn id="33" idx="1"/>
            <a:endCxn id="40" idx="0"/>
          </p:cNvCxnSpPr>
          <p:nvPr/>
        </p:nvCxnSpPr>
        <p:spPr>
          <a:xfrm rot="10800000" flipV="1">
            <a:off x="4614412" y="1093497"/>
            <a:ext cx="402677" cy="4440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Decision 73"/>
          <p:cNvSpPr/>
          <p:nvPr/>
        </p:nvSpPr>
        <p:spPr>
          <a:xfrm>
            <a:off x="6604729" y="2768571"/>
            <a:ext cx="1789348" cy="1012890"/>
          </a:xfrm>
          <a:prstGeom prst="flowChartDecision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thổi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61079" y="4122618"/>
            <a:ext cx="1886886" cy="768257"/>
          </a:xfrm>
          <a:prstGeom prst="rect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DFF7132-40BA-4580-8CC1-4FCD4063022F}"/>
              </a:ext>
            </a:extLst>
          </p:cNvPr>
          <p:cNvCxnSpPr>
            <a:cxnSpLocks/>
            <a:stCxn id="83" idx="2"/>
            <a:endCxn id="74" idx="0"/>
          </p:cNvCxnSpPr>
          <p:nvPr/>
        </p:nvCxnSpPr>
        <p:spPr>
          <a:xfrm>
            <a:off x="7492847" y="2567543"/>
            <a:ext cx="6556" cy="201028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3966EB2-65A7-4D65-BCEC-C8AB528D40AD}"/>
              </a:ext>
            </a:extLst>
          </p:cNvPr>
          <p:cNvCxnSpPr>
            <a:stCxn id="74" idx="2"/>
            <a:endCxn id="75" idx="0"/>
          </p:cNvCxnSpPr>
          <p:nvPr/>
        </p:nvCxnSpPr>
        <p:spPr>
          <a:xfrm>
            <a:off x="7499404" y="3781461"/>
            <a:ext cx="5119" cy="3411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1358F781-A258-436B-8CA1-CBE7E59FDB41}"/>
              </a:ext>
            </a:extLst>
          </p:cNvPr>
          <p:cNvSpPr/>
          <p:nvPr/>
        </p:nvSpPr>
        <p:spPr>
          <a:xfrm>
            <a:off x="6598173" y="1484785"/>
            <a:ext cx="1789348" cy="1082759"/>
          </a:xfrm>
          <a:prstGeom prst="flowChartDecision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6892839" y="2567543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06094" y="3825226"/>
            <a:ext cx="43204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3966EB2-65A7-4D65-BCEC-C8AB528D40AD}"/>
              </a:ext>
            </a:extLst>
          </p:cNvPr>
          <p:cNvCxnSpPr>
            <a:stCxn id="36" idx="2"/>
            <a:endCxn id="31" idx="0"/>
          </p:cNvCxnSpPr>
          <p:nvPr/>
        </p:nvCxnSpPr>
        <p:spPr>
          <a:xfrm flipH="1">
            <a:off x="4604391" y="5138657"/>
            <a:ext cx="11589" cy="3945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6042527" y="5562414"/>
            <a:ext cx="1282360" cy="415156"/>
          </a:xfrm>
          <a:prstGeom prst="rect">
            <a:avLst/>
          </a:prstGeom>
          <a:solidFill>
            <a:srgbClr val="92D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3966EB2-65A7-4D65-BCEC-C8AB528D40AD}"/>
              </a:ext>
            </a:extLst>
          </p:cNvPr>
          <p:cNvCxnSpPr>
            <a:stCxn id="31" idx="3"/>
            <a:endCxn id="113" idx="1"/>
          </p:cNvCxnSpPr>
          <p:nvPr/>
        </p:nvCxnSpPr>
        <p:spPr>
          <a:xfrm>
            <a:off x="5561053" y="5763192"/>
            <a:ext cx="481475" cy="68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1F33D87-DA1A-481C-A0DF-AF13CC7CB7F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9. L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 TRÌNH XỬ LÝ LINH KIỆN OK / NG</a:t>
            </a:r>
          </a:p>
        </p:txBody>
      </p:sp>
    </p:spTree>
    <p:extLst>
      <p:ext uri="{BB962C8B-B14F-4D97-AF65-F5344CB8AC3E}">
        <p14:creationId xmlns:p14="http://schemas.microsoft.com/office/powerpoint/2010/main" val="251757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152882" y="6619876"/>
            <a:ext cx="2133600" cy="265509"/>
          </a:xfrm>
        </p:spPr>
        <p:txBody>
          <a:bodyPr/>
          <a:lstStyle/>
          <a:p>
            <a:pPr algn="ctr" defTabSz="457200">
              <a:defRPr/>
            </a:pPr>
            <a:fld id="{D2D8002D-B5B0-4BAC-B1F6-782DDCCE6D9C}" type="slidenum">
              <a:rPr kumimoji="1" lang="ja-JP" altLang="en-US" sz="1000">
                <a:solidFill>
                  <a:srgbClr val="000000"/>
                </a:solidFill>
                <a:ea typeface="Meiryo UI" panose="020B0604030504040204" pitchFamily="50" charset="-128"/>
              </a:rPr>
              <a:pPr algn="ctr" defTabSz="457200">
                <a:defRPr/>
              </a:pPr>
              <a:t>13</a:t>
            </a:fld>
            <a:endParaRPr kumimoji="1" lang="ja-JP" altLang="en-US" sz="1000">
              <a:solidFill>
                <a:srgbClr val="000000"/>
              </a:solidFill>
              <a:ea typeface="Meiryo UI" panose="020B0604030504040204" pitchFamily="50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F33D87-DA1A-481C-A0DF-AF13CC7CB7F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10. Thời gian xử lý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22ABE60-7959-40FA-986B-E84CC0BD9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47706"/>
              </p:ext>
            </p:extLst>
          </p:nvPr>
        </p:nvGraphicFramePr>
        <p:xfrm>
          <a:off x="268448" y="520117"/>
          <a:ext cx="11669084" cy="54513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084">
                  <a:extLst>
                    <a:ext uri="{9D8B030D-6E8A-4147-A177-3AD203B41FA5}">
                      <a16:colId xmlns:a16="http://schemas.microsoft.com/office/drawing/2014/main" val="2105063715"/>
                    </a:ext>
                  </a:extLst>
                </a:gridCol>
                <a:gridCol w="1971413">
                  <a:extLst>
                    <a:ext uri="{9D8B030D-6E8A-4147-A177-3AD203B41FA5}">
                      <a16:colId xmlns:a16="http://schemas.microsoft.com/office/drawing/2014/main" val="508763497"/>
                    </a:ext>
                  </a:extLst>
                </a:gridCol>
                <a:gridCol w="1610686">
                  <a:extLst>
                    <a:ext uri="{9D8B030D-6E8A-4147-A177-3AD203B41FA5}">
                      <a16:colId xmlns:a16="http://schemas.microsoft.com/office/drawing/2014/main" val="3884402875"/>
                    </a:ext>
                  </a:extLst>
                </a:gridCol>
                <a:gridCol w="1098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6380">
                  <a:extLst>
                    <a:ext uri="{9D8B030D-6E8A-4147-A177-3AD203B41FA5}">
                      <a16:colId xmlns:a16="http://schemas.microsoft.com/office/drawing/2014/main" val="2435631716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Hạng</a:t>
                      </a:r>
                      <a:r>
                        <a:rPr kumimoji="1" lang="en-US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mục</a:t>
                      </a:r>
                      <a:endParaRPr kumimoji="1" 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 lần thực hiện</a:t>
                      </a:r>
                      <a:endParaRPr kumimoji="1" 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 gian c</a:t>
                      </a:r>
                      <a:r>
                        <a:rPr kumimoji="1" lang="vi-V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kumimoji="1" lang="en-US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bản</a:t>
                      </a:r>
                      <a:endParaRPr kumimoji="1" 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 gian</a:t>
                      </a:r>
                      <a:endParaRPr kumimoji="1" 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Ghi chú</a:t>
                      </a:r>
                      <a:endParaRPr kumimoji="1" 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7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Kẹp linh kiện vào gá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4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 chuyển camera ra vùng kiểm 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228042"/>
                  </a:ext>
                </a:extLst>
              </a:tr>
              <a:tr h="6084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 hiện kiểm tra 32 điểm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 mặt x 8 điểm)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Xoay linh kiện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(xoay 4 mặt)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71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Nhả linh kiện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618129"/>
                  </a:ext>
                </a:extLst>
              </a:tr>
              <a:tr h="5710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 chuyển camera ra vùng chờ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 hiện đồng thời khi nhả linh kiện nên không tính thời gian này.</a:t>
                      </a:r>
                      <a:endParaRPr kumimoji="1" lang="en-US" sz="1400" kern="12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041456"/>
                  </a:ext>
                </a:extLst>
              </a:tr>
              <a:tr h="1095962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Tổng thời gian</a:t>
                      </a:r>
                      <a:endParaRPr kumimoji="1" 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400" kern="1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</a:t>
                      </a:r>
                      <a:endParaRPr kumimoji="1" lang="en-US" sz="14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4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11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defTabSz="457200">
              <a:defRPr/>
            </a:pPr>
            <a:fld id="{D2D8002D-B5B0-4BAC-B1F6-782DDCCE6D9C}" type="slidenum">
              <a:rPr kumimoji="1" lang="ja-JP" altLang="en-US" sz="1000">
                <a:solidFill>
                  <a:srgbClr val="000000"/>
                </a:solidFill>
                <a:ea typeface="Meiryo UI" panose="020B0604030504040204" pitchFamily="50" charset="-128"/>
              </a:rPr>
              <a:pPr algn="ctr" defTabSz="457200">
                <a:defRPr/>
              </a:pPr>
              <a:t>14</a:t>
            </a:fld>
            <a:endParaRPr kumimoji="1" lang="ja-JP" altLang="en-US" sz="1000">
              <a:solidFill>
                <a:srgbClr val="000000"/>
              </a:solidFill>
              <a:ea typeface="Meiryo UI" panose="020B0604030504040204" pitchFamily="50" charset="-128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94384" y="138373"/>
            <a:ext cx="6851104" cy="40208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4.Tính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toán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phí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 /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Meiryo UI"/>
                <a:cs typeface="Times New Roman" panose="02020603050405020304" pitchFamily="18" charset="0"/>
              </a:rPr>
              <a:t>máy</a:t>
            </a:r>
            <a:endParaRPr lang="en-US" sz="2400" dirty="0">
              <a:solidFill>
                <a:srgbClr val="FFFFFF"/>
              </a:solidFill>
              <a:latin typeface="Times New Roman" panose="02020603050405020304" pitchFamily="18" charset="0"/>
              <a:ea typeface="Meiryo UI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63898"/>
              </p:ext>
            </p:extLst>
          </p:nvPr>
        </p:nvGraphicFramePr>
        <p:xfrm>
          <a:off x="268448" y="520117"/>
          <a:ext cx="11660698" cy="5222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2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2621">
                  <a:extLst>
                    <a:ext uri="{9D8B030D-6E8A-4147-A177-3AD203B41FA5}">
                      <a16:colId xmlns:a16="http://schemas.microsoft.com/office/drawing/2014/main" val="2105063715"/>
                    </a:ext>
                  </a:extLst>
                </a:gridCol>
                <a:gridCol w="4753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95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Hạng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mục</a:t>
                      </a:r>
                      <a:endParaRPr kumimoji="1" 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 </a:t>
                      </a:r>
                      <a:r>
                        <a:rPr kumimoji="1"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kumimoji="1" lang="en-US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(USD)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chú</a:t>
                      </a:r>
                      <a:endParaRPr kumimoji="1" 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7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Linh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</a:t>
                      </a: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4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Linh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MISUMI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Linh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kumimoji="1" lang="en-US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2500</a:t>
                      </a:r>
                      <a:endParaRPr kumimoji="1" 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71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Phần mềm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2000</a:t>
                      </a:r>
                      <a:endParaRPr kumimoji="1" 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618129"/>
                  </a:ext>
                </a:extLst>
              </a:tr>
              <a:tr h="5710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Camera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041456"/>
                  </a:ext>
                </a:extLst>
              </a:tr>
              <a:tr h="5710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16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Lắp đặt, điều chỉnh</a:t>
                      </a: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962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kumimoji="1"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chi </a:t>
                      </a:r>
                      <a:r>
                        <a:rPr kumimoji="1"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kumimoji="1"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(USD)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kumimoji="1" lang="en-US" sz="4000" kern="1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11500</a:t>
                      </a:r>
                      <a:endParaRPr kumimoji="1" lang="en-US" sz="40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kumimoji="1" 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47AB70-5B7F-4E0C-B65D-5A1371DF91A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11. TÍNH TOÁN CHI PHÍ</a:t>
            </a:r>
          </a:p>
        </p:txBody>
      </p:sp>
    </p:spTree>
    <p:extLst>
      <p:ext uri="{BB962C8B-B14F-4D97-AF65-F5344CB8AC3E}">
        <p14:creationId xmlns:p14="http://schemas.microsoft.com/office/powerpoint/2010/main" val="280312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1217</Words>
  <Application>Microsoft Office PowerPoint</Application>
  <PresentationFormat>Widescreen</PresentationFormat>
  <Paragraphs>290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Duong, Nguyenvan 2 (BIVN-R&amp;D PE)</dc:creator>
  <cp:lastModifiedBy>Duong, Nguyenvan 2 (BIVN-R&amp;D PE)</cp:lastModifiedBy>
  <cp:revision>104</cp:revision>
  <dcterms:created xsi:type="dcterms:W3CDTF">2021-04-06T01:02:54Z</dcterms:created>
  <dcterms:modified xsi:type="dcterms:W3CDTF">2021-04-06T09:28:04Z</dcterms:modified>
</cp:coreProperties>
</file>